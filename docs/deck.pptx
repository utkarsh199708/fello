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ROC-AUC, test cycles renewing Oct 2025 to Oct 2026</a:t>
            </a:r>
          </a:p>
        </c:rich>
      </c:tx>
      <c:layout/>
      <c:overlay val="0"/>
    </c:title>
    <c:autoTitleDeleted val="0"/>
    <c:plotArea>
      <c:layout/>
      <c:barChart>
        <c:barDir val="bar"/>
        <c:grouping val="clustered"/>
        <c:varyColors val="0"/>
        <c:ser>
          <c:idx val="0"/>
          <c:order val="0"/>
          <c:tx>
            <c:strRef>
              <c:f>Sheet1!$B$1</c:f>
              <c:strCache>
                <c:ptCount val="1"/>
                <c:pt idx="0">
                  <c:v>ROC-AUC on holdout renewals</c:v>
                </c:pt>
              </c:strCache>
            </c:strRef>
          </c:tx>
          <c:spPr>
            <a:solidFill>
              <a:srgbClr val="0F766E"/>
            </a:solidFill>
            <a:effectLst/>
          </c:spPr>
          <c:invertIfNegative val="0"/>
          <c:dLbls>
            <c:numFmt formatCode="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Oracle (hidden health)</c:v>
                  </c:pt>
                  <c:pt idx="1">
                    <c:v>LightGBM (live)</c:v>
                  </c:pt>
                  <c:pt idx="2">
                    <c:v>Logistic regression</c:v>
                  </c:pt>
                  <c:pt idx="3">
                    <c:v>Hand-written rules</c:v>
                  </c:pt>
                  <c:pt idx="4">
                    <c:v>Days to renewal</c:v>
                  </c:pt>
                </c:lvl>
              </c:multiLvlStrCache>
            </c:multiLvlStrRef>
          </c:cat>
          <c:val>
            <c:numRef>
              <c:f>Sheet1!$B$2:$B$6</c:f>
              <c:numCache>
                <c:formatCode>General</c:formatCode>
                <c:ptCount val="5"/>
                <c:pt idx="0">
                  <c:v>0.65</c:v>
                </c:pt>
                <c:pt idx="1">
                  <c:v>0.6</c:v>
                </c:pt>
                <c:pt idx="2">
                  <c:v>0.591</c:v>
                </c:pt>
                <c:pt idx="3">
                  <c:v>0.547</c:v>
                </c:pt>
                <c:pt idx="4">
                  <c:v>0.5</c:v>
                </c:pt>
              </c:numCache>
            </c:numRef>
          </c:val>
        </c:ser>
        <c:dLbls>
          <c:numFmt formatCode="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A4E"/>
                </a:solidFill>
                <a:latin typeface="+mn-lt"/>
              </a:defRPr>
            </a:pPr>
            <a:endParaRPr lang="en-US"/>
          </a:p>
        </c:txPr>
        <c:crossAx val="2094734552"/>
        <c:crosses val="autoZero"/>
        <c:auto val="1"/>
        <c:lblAlgn val="ctr"/>
        <c:noMultiLvlLbl val="1"/>
      </c:catAx>
      <c:valAx>
        <c:axId val="2094734552"/>
        <c:scaling>
          <c:orientation val="minMax"/>
          <c:max val="0.7"/>
          <c:min val="0.4"/>
        </c:scaling>
        <c:delete val="0"/>
        <c:axPos val="b"/>
        <c:majorGridlines>
          <c:spPr>
            <a:ln w="9525" cap="flat">
              <a:solidFill>
                <a:srgbClr val="F2F4F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short deck of what I built and where it diverged from my brief. The brief itself is the first commit in the repo, written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reframing is the core of the brief. A score per account does not tell a CSM what to do on Monday. A short ranked list with reasons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five non-negotiables maps to a card. The live URL runs all of it on one GCP VM for about 21 dollars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page, from a local run a week after launch, so three tasks have escalated and sit at the top. Every probability is a link to the next slide's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in one screen: the snapshot and model that made the score, the reconciliation, and a link from every factor to the raw events it was computed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disagreements were argued in the brief before any code. The build kept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divergence is in docs/decisions with the measurement behind it. The model choice rule was set after seeing validation numbers, and the log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oracle ranks by the generator's hidden health and reaches only 0.65, because a fifth of churn has no visible signal by design. It is a reference, not a ceiling: it ignores organisation-level churn rates, so on recall@8 the models are level with it. Days to renewal alone is flat, so that row ranks by ARR. These numbers validate the pipeline and ranking on data whose generator is known; they are not evidence about real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agentic part as the exercise defines it: it runs without a human, decides with a policy, and leaves an audit trail. The LLM is nowhere in the ranking path. When a key is set, it writes a two-sentence summary after the night commits, from the reason list only, and any number it invents gets the summary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linear extrapolations from the live stage timings and a local memory profile, written up in docs/decisions/step-7-10x.md.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evaluation validates the mechanics. The first real-data step is to refit on actual renewals and see what the dismissal reasons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nchor="b"/>
          <a:lstStyle/>
          <a:p>
            <a:pPr algn="l" indent="0" marL="0">
              <a:buNone/>
            </a:pPr>
            <a:r>
              <a:rPr lang="en-US" sz="4400" b="1" dirty="0">
                <a:solidFill>
                  <a:schemeClr val="bg1"/>
                </a:solidFill>
              </a:rPr>
              <a:t>Monday list: which accounts to work this week, and why</a:t>
            </a: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nchor="t"/>
          <a:lstStyle/>
          <a:p>
            <a:pPr algn="l" indent="0" marL="0">
              <a:buNone/>
            </a:pPr>
            <a:r>
              <a:rPr lang="en-US" sz="1800" dirty="0">
                <a:solidFill>
                  <a:schemeClr val="bg2"/>
                </a:solidFill>
              </a:rPr>
              <a:t>A ranked list per CSM with reasons that trace to raw events, and a nightly agent that tasks, escalates and logs.</a:t>
            </a:r>
            <a:endParaRPr lang="en-US" sz="1800" dirty="0"/>
          </a:p>
          <a:p>
            <a:pPr algn="l" indent="0" marL="0">
              <a:buNone/>
            </a:pPr>
            <a:r>
              <a:rPr lang="en-US" sz="1800" dirty="0">
                <a:solidFill>
                  <a:schemeClr val="bg2"/>
                </a:solidFill>
              </a:rPr>
              <a:t>Fello GTM AI take-home · live at 136-83-131-193.sslip.io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The ask was a health score; the problem is prioritisation</a:t>
            </a:r>
            <a:endParaRPr lang="en-US" sz="3200" dirty="0"/>
          </a:p>
        </p:txBody>
      </p:sp>
      <p:sp>
        <p:nvSpPr>
          <p:cNvPr id="3" name="Text 1"/>
          <p:cNvSpPr txBox="1"/>
          <p:nvPr/>
        </p:nvSpPr>
        <p:spPr>
          <a:xfrm>
            <a:off x="548640" y="1371600"/>
            <a:ext cx="5669280" cy="4206240"/>
          </a:xfrm>
          <a:prstGeom prst="rect">
            <a:avLst/>
          </a:prstGeom>
          <a:noFill/>
          <a:ln/>
        </p:spPr>
        <p:txBody>
          <a:bodyPr wrap="square" lIns="1524" tIns="1524" rIns="1524" bIns="1524" rtlCol="0" anchor="t"/>
          <a:lstStyle/>
          <a:p>
            <a:pPr indent="0" marL="0">
              <a:buNone/>
            </a:pPr>
            <a:r>
              <a:rPr lang="en-US" sz="1800" b="1" dirty="0">
                <a:solidFill>
                  <a:schemeClr val="tx1"/>
                </a:solidFill>
              </a:rPr>
              <a:t>What was asked</a:t>
            </a:r>
            <a:endParaRPr lang="en-US" sz="1600" dirty="0"/>
          </a:p>
          <a:p>
            <a:pPr indent="0" marL="0">
              <a:buNone/>
            </a:pPr>
            <a:r>
              <a:rPr lang="en-US" sz="1600" dirty="0">
                <a:solidFill>
                  <a:schemeClr val="tx1"/>
                </a:solidFill>
              </a:rPr>
              <a:t>A red / yellow / green score per account, and an email to the customer when it goes red.</a:t>
            </a:r>
            <a:endParaRPr lang="en-US" sz="1600" dirty="0"/>
          </a:p>
          <a:p>
            <a:pPr indent="0" marL="0">
              <a:buNone/>
            </a:pPr>
            <a:r>
              <a:rPr lang="en-US" sz="1600" dirty="0">
                <a:solidFill>
                  <a:schemeClr val="tx1"/>
                </a:solidFill>
              </a:rPr>
              <a:t> </a:t>
            </a:r>
            <a:endParaRPr lang="en-US" sz="1600" dirty="0"/>
          </a:p>
          <a:p>
            <a:pPr indent="0" marL="0">
              <a:buNone/>
            </a:pPr>
            <a:r>
              <a:rPr lang="en-US" sz="1800" b="1" dirty="0">
                <a:solidFill>
                  <a:schemeClr val="tx1"/>
                </a:solidFill>
              </a:rPr>
              <a:t>What the CSM needs on Monday</a:t>
            </a:r>
            <a:endParaRPr lang="en-US" sz="1600" dirty="0"/>
          </a:p>
          <a:p>
            <a:pPr indent="0" marL="0">
              <a:buNone/>
            </a:pPr>
            <a:r>
              <a:rPr lang="en-US" sz="1600" dirty="0">
                <a:solidFill>
                  <a:schemeClr val="tx1"/>
                </a:solidFill>
              </a:rPr>
              <a:t>Which few accounts to work this week, in order, and why. The two lost renewals had the data in Zendesk and usage. Nobody joined it.</a:t>
            </a:r>
            <a:endParaRPr lang="en-US" sz="1600" dirty="0"/>
          </a:p>
        </p:txBody>
      </p:sp>
      <p:sp>
        <p:nvSpPr>
          <p:cNvPr id="4" name="Text 2"/>
          <p:cNvSpPr txBox="1"/>
          <p:nvPr/>
        </p:nvSpPr>
        <p:spPr>
          <a:xfrm>
            <a:off x="6766560" y="1463040"/>
            <a:ext cx="2011680" cy="1097280"/>
          </a:xfrm>
          <a:prstGeom prst="rect">
            <a:avLst/>
          </a:prstGeom>
          <a:noFill/>
          <a:ln/>
        </p:spPr>
        <p:txBody>
          <a:bodyPr wrap="square" lIns="1524" tIns="1524" rIns="1524" bIns="1524"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120</a:t>
            </a:r>
            <a:endParaRPr lang="en-US" sz="6000" dirty="0"/>
          </a:p>
        </p:txBody>
      </p:sp>
      <p:sp>
        <p:nvSpPr>
          <p:cNvPr id="5" name="Text 3"/>
          <p:cNvSpPr txBox="1"/>
          <p:nvPr/>
        </p:nvSpPr>
        <p:spPr>
          <a:xfrm>
            <a:off x="8686800" y="1600200"/>
            <a:ext cx="2926080" cy="822960"/>
          </a:xfrm>
          <a:prstGeom prst="rect">
            <a:avLst/>
          </a:prstGeom>
          <a:noFill/>
          <a:ln/>
        </p:spPr>
        <p:txBody>
          <a:bodyPr wrap="square" lIns="1524" tIns="1524" rIns="1524" bIns="1524" rtlCol="0" anchor="ctr"/>
          <a:lstStyle/>
          <a:p>
            <a:pPr indent="0" marL="0">
              <a:buNone/>
            </a:pPr>
            <a:r>
              <a:rPr lang="en-US" sz="1600" dirty="0">
                <a:solidFill>
                  <a:schemeClr val="tx2"/>
                </a:solidFill>
              </a:rPr>
              <a:t>accounts per CSM</a:t>
            </a:r>
            <a:endParaRPr lang="en-US" sz="1600" dirty="0"/>
          </a:p>
        </p:txBody>
      </p:sp>
      <p:sp>
        <p:nvSpPr>
          <p:cNvPr id="6" name="Text 4"/>
          <p:cNvSpPr txBox="1"/>
          <p:nvPr/>
        </p:nvSpPr>
        <p:spPr>
          <a:xfrm>
            <a:off x="6766560" y="2834640"/>
            <a:ext cx="2011680" cy="1097280"/>
          </a:xfrm>
          <a:prstGeom prst="rect">
            <a:avLst/>
          </a:prstGeom>
          <a:noFill/>
          <a:ln/>
        </p:spPr>
        <p:txBody>
          <a:bodyPr wrap="square" lIns="1524" tIns="1524" rIns="1524" bIns="1524"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~8</a:t>
            </a:r>
            <a:endParaRPr lang="en-US" sz="6000" dirty="0"/>
          </a:p>
        </p:txBody>
      </p:sp>
      <p:sp>
        <p:nvSpPr>
          <p:cNvPr id="7" name="Text 5"/>
          <p:cNvSpPr txBox="1"/>
          <p:nvPr/>
        </p:nvSpPr>
        <p:spPr>
          <a:xfrm>
            <a:off x="8686800" y="2971800"/>
            <a:ext cx="2926080" cy="822960"/>
          </a:xfrm>
          <a:prstGeom prst="rect">
            <a:avLst/>
          </a:prstGeom>
          <a:noFill/>
          <a:ln/>
        </p:spPr>
        <p:txBody>
          <a:bodyPr wrap="square" lIns="1524" tIns="1524" rIns="1524" bIns="1524" rtlCol="0" anchor="ctr"/>
          <a:lstStyle/>
          <a:p>
            <a:pPr indent="0" marL="0">
              <a:buNone/>
            </a:pPr>
            <a:r>
              <a:rPr lang="en-US" sz="1600" dirty="0">
                <a:solidFill>
                  <a:schemeClr val="tx2"/>
                </a:solidFill>
              </a:rPr>
              <a:t>a CSM can work properly in a week</a:t>
            </a:r>
            <a:endParaRPr lang="en-US" sz="1600" dirty="0"/>
          </a:p>
        </p:txBody>
      </p:sp>
      <p:sp>
        <p:nvSpPr>
          <p:cNvPr id="8" name="Text 6"/>
          <p:cNvSpPr txBox="1"/>
          <p:nvPr/>
        </p:nvSpPr>
        <p:spPr>
          <a:xfrm>
            <a:off x="6766560" y="4206240"/>
            <a:ext cx="2011680" cy="1097280"/>
          </a:xfrm>
          <a:prstGeom prst="rect">
            <a:avLst/>
          </a:prstGeom>
          <a:noFill/>
          <a:ln/>
        </p:spPr>
        <p:txBody>
          <a:bodyPr wrap="square" lIns="1524" tIns="1524" rIns="1524" bIns="1524"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5</a:t>
            </a:r>
            <a:endParaRPr lang="en-US" sz="6000" dirty="0"/>
          </a:p>
        </p:txBody>
      </p:sp>
      <p:sp>
        <p:nvSpPr>
          <p:cNvPr id="9" name="Text 7"/>
          <p:cNvSpPr txBox="1"/>
          <p:nvPr/>
        </p:nvSpPr>
        <p:spPr>
          <a:xfrm>
            <a:off x="8686800" y="4343400"/>
            <a:ext cx="2926080" cy="822960"/>
          </a:xfrm>
          <a:prstGeom prst="rect">
            <a:avLst/>
          </a:prstGeom>
          <a:noFill/>
          <a:ln/>
        </p:spPr>
        <p:txBody>
          <a:bodyPr wrap="square" lIns="1524" tIns="1524" rIns="1524" bIns="1524" rtlCol="0" anchor="ctr"/>
          <a:lstStyle/>
          <a:p>
            <a:pPr indent="0" marL="0">
              <a:buNone/>
            </a:pPr>
            <a:r>
              <a:rPr lang="en-US" sz="1600" dirty="0">
                <a:solidFill>
                  <a:schemeClr val="tx2"/>
                </a:solidFill>
              </a:rPr>
              <a:t>systems, five different keys per customer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What shipped, and is live</a:t>
            </a:r>
            <a:endParaRPr lang="en-US" sz="3200" dirty="0"/>
          </a:p>
        </p:txBody>
      </p:sp>
      <p:sp>
        <p:nvSpPr>
          <p:cNvPr id="3" name="card Monday list"/>
          <p:cNvSpPr/>
          <p:nvPr/>
        </p:nvSpPr>
        <p:spPr>
          <a:xfrm>
            <a:off x="548640" y="1463040"/>
            <a:ext cx="3520440" cy="2011680"/>
          </a:xfrm>
          <a:prstGeom prst="roundRect">
            <a:avLst>
              <a:gd name="adj" fmla="val 3636"/>
            </a:avLst>
          </a:prstGeom>
          <a:solidFill>
            <a:schemeClr val="bg2"/>
          </a:solidFill>
          <a:ln w="12700">
            <a:solidFill>
              <a:schemeClr val="bg2"/>
            </a:solidFill>
            <a:prstDash val="solid"/>
          </a:ln>
        </p:spPr>
      </p:sp>
      <p:sp>
        <p:nvSpPr>
          <p:cNvPr id="4" name="Shape 2"/>
          <p:cNvSpPr/>
          <p:nvPr/>
        </p:nvSpPr>
        <p:spPr>
          <a:xfrm>
            <a:off x="777240" y="1719072"/>
            <a:ext cx="292608" cy="292608"/>
          </a:xfrm>
          <a:prstGeom prst="ellipse">
            <a:avLst/>
          </a:prstGeom>
          <a:solidFill>
            <a:schemeClr val="accent1"/>
          </a:solidFill>
          <a:ln w="12700">
            <a:solidFill>
              <a:schemeClr val="accent1"/>
            </a:solidFill>
            <a:prstDash val="solid"/>
          </a:ln>
        </p:spPr>
      </p:sp>
      <p:sp>
        <p:nvSpPr>
          <p:cNvPr id="5" name="Text 3"/>
          <p:cNvSpPr txBox="1"/>
          <p:nvPr/>
        </p:nvSpPr>
        <p:spPr>
          <a:xfrm>
            <a:off x="1188720" y="162763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Monday list</a:t>
            </a:r>
            <a:endParaRPr lang="en-US" sz="1800" dirty="0"/>
          </a:p>
        </p:txBody>
      </p:sp>
      <p:sp>
        <p:nvSpPr>
          <p:cNvPr id="6" name="Text 4"/>
          <p:cNvSpPr txBox="1"/>
          <p:nvPr/>
        </p:nvSpPr>
        <p:spPr>
          <a:xfrm>
            <a:off x="777240" y="2176272"/>
            <a:ext cx="3063240" cy="1143000"/>
          </a:xfrm>
          <a:prstGeom prst="rect">
            <a:avLst/>
          </a:prstGeom>
          <a:noFill/>
          <a:ln/>
        </p:spPr>
        <p:txBody>
          <a:bodyPr wrap="square" lIns="1524" tIns="1524" rIns="1524" bIns="1524" rtlCol="0" anchor="t"/>
          <a:lstStyle/>
          <a:p>
            <a:pPr indent="0" marL="0">
              <a:buNone/>
            </a:pPr>
            <a:r>
              <a:rPr lang="en-US" sz="1400" dirty="0">
                <a:solidFill>
                  <a:schemeClr val="tx2"/>
                </a:solidFill>
              </a:rPr>
              <a:t>Ranked per CSM by expected ARR at risk. Colour derived from rank. Thin accounts in their own bucket, never green.</a:t>
            </a:r>
            <a:endParaRPr lang="en-US" sz="1400" dirty="0"/>
          </a:p>
        </p:txBody>
      </p:sp>
      <p:sp>
        <p:nvSpPr>
          <p:cNvPr id="7" name="card A fitted model"/>
          <p:cNvSpPr/>
          <p:nvPr/>
        </p:nvSpPr>
        <p:spPr>
          <a:xfrm>
            <a:off x="4297680" y="1463040"/>
            <a:ext cx="3520440" cy="2011680"/>
          </a:xfrm>
          <a:prstGeom prst="roundRect">
            <a:avLst>
              <a:gd name="adj" fmla="val 3636"/>
            </a:avLst>
          </a:prstGeom>
          <a:solidFill>
            <a:schemeClr val="bg2"/>
          </a:solidFill>
          <a:ln w="12700">
            <a:solidFill>
              <a:schemeClr val="bg2"/>
            </a:solidFill>
            <a:prstDash val="solid"/>
          </a:ln>
        </p:spPr>
      </p:sp>
      <p:sp>
        <p:nvSpPr>
          <p:cNvPr id="8" name="Shape 6"/>
          <p:cNvSpPr/>
          <p:nvPr/>
        </p:nvSpPr>
        <p:spPr>
          <a:xfrm>
            <a:off x="4526280" y="1719072"/>
            <a:ext cx="292608" cy="292608"/>
          </a:xfrm>
          <a:prstGeom prst="ellipse">
            <a:avLst/>
          </a:prstGeom>
          <a:solidFill>
            <a:schemeClr val="accent2"/>
          </a:solidFill>
          <a:ln w="12700">
            <a:solidFill>
              <a:schemeClr val="accent2"/>
            </a:solidFill>
            <a:prstDash val="solid"/>
          </a:ln>
        </p:spPr>
      </p:sp>
      <p:sp>
        <p:nvSpPr>
          <p:cNvPr id="9" name="Text 7"/>
          <p:cNvSpPr txBox="1"/>
          <p:nvPr/>
        </p:nvSpPr>
        <p:spPr>
          <a:xfrm>
            <a:off x="4937760" y="162763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A fitted model</a:t>
            </a:r>
            <a:endParaRPr lang="en-US" sz="1800" dirty="0"/>
          </a:p>
        </p:txBody>
      </p:sp>
      <p:sp>
        <p:nvSpPr>
          <p:cNvPr id="10" name="Text 8"/>
          <p:cNvSpPr txBox="1"/>
          <p:nvPr/>
        </p:nvSpPr>
        <p:spPr>
          <a:xfrm>
            <a:off x="4526280" y="2176272"/>
            <a:ext cx="3063240" cy="1143000"/>
          </a:xfrm>
          <a:prstGeom prst="rect">
            <a:avLst/>
          </a:prstGeom>
          <a:noFill/>
          <a:ln/>
        </p:spPr>
        <p:txBody>
          <a:bodyPr wrap="square" lIns="1524" tIns="1524" rIns="1524" bIns="1524" rtlCol="0" anchor="t"/>
          <a:lstStyle/>
          <a:p>
            <a:pPr indent="0" marL="0">
              <a:buNone/>
            </a:pPr>
            <a:r>
              <a:rPr lang="en-US" sz="1400" dirty="0">
                <a:solidFill>
                  <a:schemeClr val="tx2"/>
                </a:solidFill>
              </a:rPr>
              <a:t>Global LightGBM on 3 years of renewal cycles. Reasons from SHAP contributions that add up to the margin.</a:t>
            </a:r>
            <a:endParaRPr lang="en-US" sz="1400" dirty="0"/>
          </a:p>
        </p:txBody>
      </p:sp>
      <p:sp>
        <p:nvSpPr>
          <p:cNvPr id="11" name="card A nightly agent"/>
          <p:cNvSpPr/>
          <p:nvPr/>
        </p:nvSpPr>
        <p:spPr>
          <a:xfrm>
            <a:off x="8046720" y="1463040"/>
            <a:ext cx="3520440" cy="2011680"/>
          </a:xfrm>
          <a:prstGeom prst="roundRect">
            <a:avLst>
              <a:gd name="adj" fmla="val 3636"/>
            </a:avLst>
          </a:prstGeom>
          <a:solidFill>
            <a:schemeClr val="bg2"/>
          </a:solidFill>
          <a:ln w="12700">
            <a:solidFill>
              <a:schemeClr val="bg2"/>
            </a:solidFill>
            <a:prstDash val="solid"/>
          </a:ln>
        </p:spPr>
      </p:sp>
      <p:sp>
        <p:nvSpPr>
          <p:cNvPr id="12" name="Shape 10"/>
          <p:cNvSpPr/>
          <p:nvPr/>
        </p:nvSpPr>
        <p:spPr>
          <a:xfrm>
            <a:off x="8275320" y="1719072"/>
            <a:ext cx="292608" cy="292608"/>
          </a:xfrm>
          <a:prstGeom prst="ellipse">
            <a:avLst/>
          </a:prstGeom>
          <a:solidFill>
            <a:schemeClr val="accent4"/>
          </a:solidFill>
          <a:ln w="12700">
            <a:solidFill>
              <a:schemeClr val="accent4"/>
            </a:solidFill>
            <a:prstDash val="solid"/>
          </a:ln>
        </p:spPr>
      </p:sp>
      <p:sp>
        <p:nvSpPr>
          <p:cNvPr id="13" name="Text 11"/>
          <p:cNvSpPr txBox="1"/>
          <p:nvPr/>
        </p:nvSpPr>
        <p:spPr>
          <a:xfrm>
            <a:off x="8686800" y="162763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A nightly agent</a:t>
            </a:r>
            <a:endParaRPr lang="en-US" sz="1800" dirty="0"/>
          </a:p>
        </p:txBody>
      </p:sp>
      <p:sp>
        <p:nvSpPr>
          <p:cNvPr id="14" name="Text 12"/>
          <p:cNvSpPr txBox="1"/>
          <p:nvPr/>
        </p:nvSpPr>
        <p:spPr>
          <a:xfrm>
            <a:off x="8275320" y="2176272"/>
            <a:ext cx="3063240" cy="1143000"/>
          </a:xfrm>
          <a:prstGeom prst="rect">
            <a:avLst/>
          </a:prstGeom>
          <a:noFill/>
          <a:ln/>
        </p:spPr>
        <p:txBody>
          <a:bodyPr wrap="square" lIns="1524" tIns="1524" rIns="1524" bIns="1524" rtlCol="0" anchor="t"/>
          <a:lstStyle/>
          <a:p>
            <a:pPr indent="0" marL="0">
              <a:buNone/>
            </a:pPr>
            <a:r>
              <a:rPr lang="en-US" sz="1400" dirty="0">
                <a:solidFill>
                  <a:schemeClr val="tx2"/>
                </a:solidFill>
              </a:rPr>
              <a:t>Runs at 02:00 UTC unattended. Transitions, anti-flap policy, tasks, escalation, briefings, all logged.</a:t>
            </a:r>
            <a:endParaRPr lang="en-US" sz="1400" dirty="0"/>
          </a:p>
        </p:txBody>
      </p:sp>
      <p:sp>
        <p:nvSpPr>
          <p:cNvPr id="15" name="card Multi-tenant"/>
          <p:cNvSpPr/>
          <p:nvPr/>
        </p:nvSpPr>
        <p:spPr>
          <a:xfrm>
            <a:off x="548640" y="3703320"/>
            <a:ext cx="3520440" cy="2011680"/>
          </a:xfrm>
          <a:prstGeom prst="roundRect">
            <a:avLst>
              <a:gd name="adj" fmla="val 3636"/>
            </a:avLst>
          </a:prstGeom>
          <a:solidFill>
            <a:schemeClr val="bg2"/>
          </a:solidFill>
          <a:ln w="12700">
            <a:solidFill>
              <a:schemeClr val="bg2"/>
            </a:solidFill>
            <a:prstDash val="solid"/>
          </a:ln>
        </p:spPr>
      </p:sp>
      <p:sp>
        <p:nvSpPr>
          <p:cNvPr id="16" name="Shape 14"/>
          <p:cNvSpPr/>
          <p:nvPr/>
        </p:nvSpPr>
        <p:spPr>
          <a:xfrm>
            <a:off x="777240" y="3959352"/>
            <a:ext cx="292608" cy="292608"/>
          </a:xfrm>
          <a:prstGeom prst="ellipse">
            <a:avLst/>
          </a:prstGeom>
          <a:solidFill>
            <a:schemeClr val="accent5"/>
          </a:solidFill>
          <a:ln w="12700">
            <a:solidFill>
              <a:schemeClr val="accent5"/>
            </a:solidFill>
            <a:prstDash val="solid"/>
          </a:ln>
        </p:spPr>
      </p:sp>
      <p:sp>
        <p:nvSpPr>
          <p:cNvPr id="17" name="Text 15"/>
          <p:cNvSpPr txBox="1"/>
          <p:nvPr/>
        </p:nvSpPr>
        <p:spPr>
          <a:xfrm>
            <a:off x="1188720" y="386791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Multi-tenant</a:t>
            </a:r>
            <a:endParaRPr lang="en-US" sz="1800" dirty="0"/>
          </a:p>
        </p:txBody>
      </p:sp>
      <p:sp>
        <p:nvSpPr>
          <p:cNvPr id="18" name="Text 16"/>
          <p:cNvSpPr txBox="1"/>
          <p:nvPr/>
        </p:nvSpPr>
        <p:spPr>
          <a:xfrm>
            <a:off x="777240" y="4416552"/>
            <a:ext cx="3063240" cy="1143000"/>
          </a:xfrm>
          <a:prstGeom prst="rect">
            <a:avLst/>
          </a:prstGeom>
          <a:noFill/>
          <a:ln/>
        </p:spPr>
        <p:txBody>
          <a:bodyPr wrap="square" lIns="1524" tIns="1524" rIns="1524" bIns="1524" rtlCol="0" anchor="t"/>
          <a:lstStyle/>
          <a:p>
            <a:pPr indent="0" marL="0">
              <a:buNone/>
            </a:pPr>
            <a:r>
              <a:rPr lang="en-US" sz="1400" dirty="0">
                <a:solidFill>
                  <a:schemeClr val="tx2"/>
                </a:solidFill>
              </a:rPr>
              <a:t>5 organisations. Postgres FORCE row-level security, tenant set in one place, wrong-tenant ids return 404.</a:t>
            </a:r>
            <a:endParaRPr lang="en-US" sz="1400" dirty="0"/>
          </a:p>
        </p:txBody>
      </p:sp>
      <p:sp>
        <p:nvSpPr>
          <p:cNvPr id="19" name="card Traceable"/>
          <p:cNvSpPr/>
          <p:nvPr/>
        </p:nvSpPr>
        <p:spPr>
          <a:xfrm>
            <a:off x="4297680" y="3703320"/>
            <a:ext cx="3520440" cy="2011680"/>
          </a:xfrm>
          <a:prstGeom prst="roundRect">
            <a:avLst>
              <a:gd name="adj" fmla="val 3636"/>
            </a:avLst>
          </a:prstGeom>
          <a:solidFill>
            <a:schemeClr val="bg2"/>
          </a:solidFill>
          <a:ln w="12700">
            <a:solidFill>
              <a:schemeClr val="bg2"/>
            </a:solidFill>
            <a:prstDash val="solid"/>
          </a:ln>
        </p:spPr>
      </p:sp>
      <p:sp>
        <p:nvSpPr>
          <p:cNvPr id="20" name="Shape 18"/>
          <p:cNvSpPr/>
          <p:nvPr/>
        </p:nvSpPr>
        <p:spPr>
          <a:xfrm>
            <a:off x="4526280" y="3959352"/>
            <a:ext cx="292608" cy="292608"/>
          </a:xfrm>
          <a:prstGeom prst="ellipse">
            <a:avLst/>
          </a:prstGeom>
          <a:solidFill>
            <a:schemeClr val="accent3"/>
          </a:solidFill>
          <a:ln w="12700">
            <a:solidFill>
              <a:schemeClr val="accent3"/>
            </a:solidFill>
            <a:prstDash val="solid"/>
          </a:ln>
        </p:spPr>
      </p:sp>
      <p:sp>
        <p:nvSpPr>
          <p:cNvPr id="21" name="Text 19"/>
          <p:cNvSpPr txBox="1"/>
          <p:nvPr/>
        </p:nvSpPr>
        <p:spPr>
          <a:xfrm>
            <a:off x="4937760" y="386791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Traceable</a:t>
            </a:r>
            <a:endParaRPr lang="en-US" sz="1800" dirty="0"/>
          </a:p>
        </p:txBody>
      </p:sp>
      <p:sp>
        <p:nvSpPr>
          <p:cNvPr id="22" name="Text 20"/>
          <p:cNvSpPr txBox="1"/>
          <p:nvPr/>
        </p:nvSpPr>
        <p:spPr>
          <a:xfrm>
            <a:off x="4526280" y="4416552"/>
            <a:ext cx="3063240" cy="1143000"/>
          </a:xfrm>
          <a:prstGeom prst="rect">
            <a:avLst/>
          </a:prstGeom>
          <a:noFill/>
          <a:ln/>
        </p:spPr>
        <p:txBody>
          <a:bodyPr wrap="square" lIns="1524" tIns="1524" rIns="1524" bIns="1524" rtlCol="0" anchor="t"/>
          <a:lstStyle/>
          <a:p>
            <a:pPr indent="0" marL="0">
              <a:buNone/>
            </a:pPr>
            <a:r>
              <a:rPr lang="en-US" sz="1400" dirty="0">
                <a:solidFill>
                  <a:schemeClr val="tx2"/>
                </a:solidFill>
              </a:rPr>
              <a:t>Every number links back: raw event, match, snapshot, score, model version, task and the run that made it.</a:t>
            </a:r>
            <a:endParaRPr lang="en-US" sz="1400" dirty="0"/>
          </a:p>
        </p:txBody>
      </p:sp>
      <p:sp>
        <p:nvSpPr>
          <p:cNvPr id="23" name="card Messy synthetic data"/>
          <p:cNvSpPr/>
          <p:nvPr/>
        </p:nvSpPr>
        <p:spPr>
          <a:xfrm>
            <a:off x="8046720" y="3703320"/>
            <a:ext cx="3520440" cy="2011680"/>
          </a:xfrm>
          <a:prstGeom prst="roundRect">
            <a:avLst>
              <a:gd name="adj" fmla="val 3636"/>
            </a:avLst>
          </a:prstGeom>
          <a:solidFill>
            <a:schemeClr val="bg2"/>
          </a:solidFill>
          <a:ln w="12700">
            <a:solidFill>
              <a:schemeClr val="bg2"/>
            </a:solidFill>
            <a:prstDash val="solid"/>
          </a:ln>
        </p:spPr>
      </p:sp>
      <p:sp>
        <p:nvSpPr>
          <p:cNvPr id="24" name="Shape 22"/>
          <p:cNvSpPr/>
          <p:nvPr/>
        </p:nvSpPr>
        <p:spPr>
          <a:xfrm>
            <a:off x="8275320" y="3959352"/>
            <a:ext cx="292608" cy="292608"/>
          </a:xfrm>
          <a:prstGeom prst="ellipse">
            <a:avLst/>
          </a:prstGeom>
          <a:solidFill>
            <a:schemeClr val="accent6"/>
          </a:solidFill>
          <a:ln w="12700">
            <a:solidFill>
              <a:schemeClr val="accent6"/>
            </a:solidFill>
            <a:prstDash val="solid"/>
          </a:ln>
        </p:spPr>
      </p:sp>
      <p:sp>
        <p:nvSpPr>
          <p:cNvPr id="25" name="Text 23"/>
          <p:cNvSpPr txBox="1"/>
          <p:nvPr/>
        </p:nvSpPr>
        <p:spPr>
          <a:xfrm>
            <a:off x="8686800" y="386791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Messy synthetic data</a:t>
            </a:r>
            <a:endParaRPr lang="en-US" sz="1800" dirty="0"/>
          </a:p>
        </p:txBody>
      </p:sp>
      <p:sp>
        <p:nvSpPr>
          <p:cNvPr id="26" name="Text 24"/>
          <p:cNvSpPr txBox="1"/>
          <p:nvPr/>
        </p:nvSpPr>
        <p:spPr>
          <a:xfrm>
            <a:off x="8275320" y="4416552"/>
            <a:ext cx="3063240" cy="1143000"/>
          </a:xfrm>
          <a:prstGeom prst="rect">
            <a:avLst/>
          </a:prstGeom>
          <a:noFill/>
          <a:ln/>
        </p:spPr>
        <p:txBody>
          <a:bodyPr wrap="square" lIns="1524" tIns="1524" rIns="1524" bIns="1524" rtlCol="0" anchor="t"/>
          <a:lstStyle/>
          <a:p>
            <a:pPr indent="0" marL="0">
              <a:buNone/>
            </a:pPr>
            <a:r>
              <a:rPr lang="en-US" sz="1400" dirty="0">
                <a:solidFill>
                  <a:schemeClr val="tx2"/>
                </a:solidFill>
              </a:rPr>
              <a:t>5,000 accounts, 192k events: replays, drift, late arrivals, identity breaks, thin accounts. Measured, not hoped.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What a CSM opens on Monday</a:t>
            </a:r>
            <a:endParaRPr lang="en-US" sz="3200" dirty="0"/>
          </a:p>
        </p:txBody>
      </p:sp>
      <p:pic>
        <p:nvPicPr>
          <p:cNvPr id="3" name="screenshot list" descr="The Monday list for one CSM, with risk, ARR at risk, top reasons and tasks">    </p:cNvPr>
          <p:cNvPicPr>
            <a:picLocks noChangeAspect="1"/>
          </p:cNvPicPr>
          <p:nvPr/>
        </p:nvPicPr>
        <p:blipFill>
          <a:blip r:embed="rId1"/>
          <a:stretch>
            <a:fillRect/>
          </a:stretch>
        </p:blipFill>
        <p:spPr>
          <a:xfrm>
            <a:off x="548640" y="1280160"/>
            <a:ext cx="7498080" cy="5202936"/>
          </a:xfrm>
          <a:prstGeom prst="rect">
            <a:avLst/>
          </a:prstGeom>
        </p:spPr>
      </p:pic>
      <p:sp>
        <p:nvSpPr>
          <p:cNvPr id="4" name="Text 1"/>
          <p:cNvSpPr txBox="1"/>
          <p:nvPr/>
        </p:nvSpPr>
        <p:spPr>
          <a:xfrm>
            <a:off x="8321040" y="1280160"/>
            <a:ext cx="3383280" cy="5120640"/>
          </a:xfrm>
          <a:prstGeom prst="rect">
            <a:avLst/>
          </a:prstGeom>
          <a:noFill/>
          <a:ln/>
        </p:spPr>
        <p:txBody>
          <a:bodyPr wrap="square" lIns="1524" tIns="1524" rIns="1524" bIns="1524" rtlCol="0" anchor="t"/>
          <a:lstStyle/>
          <a:p>
            <a:pPr indent="0" marL="0">
              <a:buNone/>
            </a:pPr>
            <a:r>
              <a:rPr lang="en-US" sz="1500" b="1" dirty="0">
                <a:solidFill>
                  <a:schemeClr val="tx1"/>
                </a:solidFill>
              </a:rPr>
              <a:t>Ranked by ARR at risk</a:t>
            </a:r>
            <a:endParaRPr lang="en-US" sz="1500" dirty="0"/>
          </a:p>
          <a:p>
            <a:pPr indent="0" marL="0">
              <a:buNone/>
            </a:pPr>
            <a:r>
              <a:rPr lang="en-US" sz="1500" dirty="0">
                <a:solidFill>
                  <a:schemeClr val="tx1"/>
                </a:solidFill>
              </a:rPr>
              <a:t>Probability × ARR. One click re-sorts by probability, ARR or renewal date.</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tx1"/>
                </a:solidFill>
              </a:rPr>
              <a:t>Reasons on the row</a:t>
            </a:r>
            <a:endParaRPr lang="en-US" sz="1500" dirty="0"/>
          </a:p>
          <a:p>
            <a:pPr indent="0" marL="0">
              <a:buNone/>
            </a:pPr>
            <a:r>
              <a:rPr lang="en-US" sz="1500" dirty="0">
                <a:solidFill>
                  <a:schemeClr val="tx1"/>
                </a:solidFill>
              </a:rPr>
              <a:t>The model's own top factors, with their values. Small pushes stay on the score page.</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tx1"/>
                </a:solidFill>
              </a:rPr>
              <a:t>Tasks that cannot slip</a:t>
            </a:r>
            <a:endParaRPr lang="en-US" sz="1500" dirty="0"/>
          </a:p>
          <a:p>
            <a:pPr indent="0" marL="0">
              <a:buNone/>
            </a:pPr>
            <a:r>
              <a:rPr lang="en-US" sz="1500" dirty="0">
                <a:solidFill>
                  <a:schemeClr val="tx1"/>
                </a:solidFill>
              </a:rPr>
              <a:t>Untouched for 5 business days near renewal: escalated and pinned first.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Every number traces back to raw events</a:t>
            </a:r>
            <a:endParaRPr lang="en-US" sz="3200" dirty="0"/>
          </a:p>
        </p:txBody>
      </p:sp>
      <p:pic>
        <p:nvPicPr>
          <p:cNvPr id="3" name="screenshot score" descr="The score drill-down, with each factor's contribution and the reconciliation check">    </p:cNvPr>
          <p:cNvPicPr>
            <a:picLocks noChangeAspect="1"/>
          </p:cNvPicPr>
          <p:nvPr/>
        </p:nvPicPr>
        <p:blipFill>
          <a:blip r:embed="rId1"/>
          <a:stretch>
            <a:fillRect/>
          </a:stretch>
        </p:blipFill>
        <p:spPr>
          <a:xfrm>
            <a:off x="548640" y="1280160"/>
            <a:ext cx="6400800" cy="5111496"/>
          </a:xfrm>
          <a:prstGeom prst="rect">
            <a:avLst/>
          </a:prstGeom>
        </p:spPr>
      </p:pic>
      <p:sp>
        <p:nvSpPr>
          <p:cNvPr id="4" name="Text 1"/>
          <p:cNvSpPr txBox="1"/>
          <p:nvPr/>
        </p:nvSpPr>
        <p:spPr>
          <a:xfrm>
            <a:off x="7315200" y="1280160"/>
            <a:ext cx="4389120" cy="5120640"/>
          </a:xfrm>
          <a:prstGeom prst="rect">
            <a:avLst/>
          </a:prstGeom>
          <a:noFill/>
          <a:ln/>
        </p:spPr>
        <p:txBody>
          <a:bodyPr wrap="square" lIns="1524" tIns="1524" rIns="1524" bIns="1524" rtlCol="0" anchor="t"/>
          <a:lstStyle/>
          <a:p>
            <a:pPr indent="0" marL="0">
              <a:buNone/>
            </a:pPr>
            <a:r>
              <a:rPr lang="en-US" sz="1500" b="1" dirty="0">
                <a:solidFill>
                  <a:schemeClr val="tx1"/>
                </a:solidFill>
              </a:rPr>
              <a:t>Factor by factor</a:t>
            </a:r>
            <a:endParaRPr lang="en-US" sz="1500" dirty="0"/>
          </a:p>
          <a:p>
            <a:pPr indent="0" marL="0">
              <a:buNone/>
            </a:pPr>
            <a:r>
              <a:rPr lang="en-US" sz="1500" dirty="0">
                <a:solidFill>
                  <a:schemeClr val="tx1"/>
                </a:solidFill>
              </a:rPr>
              <a:t>Each contribution, largest first, from the same model that scored.</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tx1"/>
                </a:solidFill>
              </a:rPr>
              <a:t>Checked on the page</a:t>
            </a:r>
            <a:endParaRPr lang="en-US" sz="1500" dirty="0"/>
          </a:p>
          <a:p>
            <a:pPr indent="0" marL="0">
              <a:buNone/>
            </a:pPr>
            <a:r>
              <a:rPr lang="en-US" sz="1500" dirty="0">
                <a:solidFill>
                  <a:schemeClr val="tx1"/>
                </a:solidFill>
              </a:rPr>
              <a:t>Expected value + contributions = the stored margin. rescore &lt;score_id&gt; reproduces it.</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tx1"/>
                </a:solidFill>
              </a:rPr>
              <a:t>Down to the events</a:t>
            </a:r>
            <a:endParaRPr lang="en-US" sz="1500" dirty="0"/>
          </a:p>
          <a:p>
            <a:pPr indent="0" marL="0">
              <a:buNone/>
            </a:pPr>
            <a:r>
              <a:rPr lang="en-US" sz="1500" dirty="0">
                <a:solidFill>
                  <a:schemeClr val="tx1"/>
                </a:solidFill>
              </a:rPr>
              <a:t>"raw events" shows the exact rows a factor counted, received before the snapshot.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Where I disagreed with the request</a:t>
            </a:r>
            <a:endParaRPr lang="en-US" sz="3200" dirty="0"/>
          </a:p>
        </p:txBody>
      </p:sp>
      <p:sp>
        <p:nvSpPr>
          <p:cNvPr id="3" name="card No auto-email"/>
          <p:cNvSpPr/>
          <p:nvPr/>
        </p:nvSpPr>
        <p:spPr>
          <a:xfrm>
            <a:off x="548640" y="1463040"/>
            <a:ext cx="3520440" cy="3566160"/>
          </a:xfrm>
          <a:prstGeom prst="roundRect">
            <a:avLst>
              <a:gd name="adj" fmla="val 2078"/>
            </a:avLst>
          </a:prstGeom>
          <a:solidFill>
            <a:schemeClr val="bg2"/>
          </a:solidFill>
          <a:ln w="12700">
            <a:solidFill>
              <a:schemeClr val="bg2"/>
            </a:solidFill>
            <a:prstDash val="solid"/>
          </a:ln>
        </p:spPr>
      </p:sp>
      <p:sp>
        <p:nvSpPr>
          <p:cNvPr id="4" name="Shape 2"/>
          <p:cNvSpPr/>
          <p:nvPr/>
        </p:nvSpPr>
        <p:spPr>
          <a:xfrm>
            <a:off x="777240" y="1719072"/>
            <a:ext cx="292608" cy="292608"/>
          </a:xfrm>
          <a:prstGeom prst="ellipse">
            <a:avLst/>
          </a:prstGeom>
          <a:solidFill>
            <a:schemeClr val="accent3"/>
          </a:solidFill>
          <a:ln w="12700">
            <a:solidFill>
              <a:schemeClr val="accent3"/>
            </a:solidFill>
            <a:prstDash val="solid"/>
          </a:ln>
        </p:spPr>
      </p:sp>
      <p:sp>
        <p:nvSpPr>
          <p:cNvPr id="5" name="Text 3"/>
          <p:cNvSpPr txBox="1"/>
          <p:nvPr/>
        </p:nvSpPr>
        <p:spPr>
          <a:xfrm>
            <a:off x="1188720" y="162763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No auto-email</a:t>
            </a:r>
            <a:endParaRPr lang="en-US" sz="1800" dirty="0"/>
          </a:p>
        </p:txBody>
      </p:sp>
      <p:sp>
        <p:nvSpPr>
          <p:cNvPr id="6" name="Text 4"/>
          <p:cNvSpPr txBox="1"/>
          <p:nvPr/>
        </p:nvSpPr>
        <p:spPr>
          <a:xfrm>
            <a:off x="777240" y="2176272"/>
            <a:ext cx="3063240" cy="2697480"/>
          </a:xfrm>
          <a:prstGeom prst="rect">
            <a:avLst/>
          </a:prstGeom>
          <a:noFill/>
          <a:ln/>
        </p:spPr>
        <p:txBody>
          <a:bodyPr wrap="square" lIns="1524" tIns="1524" rIns="1524" bIns="1524" rtlCol="0" anchor="t"/>
          <a:lstStyle/>
          <a:p>
            <a:pPr indent="0" marL="0">
              <a:buNone/>
            </a:pPr>
            <a:r>
              <a:rPr lang="en-US" sz="1400" dirty="0">
                <a:solidFill>
                  <a:schemeClr val="tx2"/>
                </a:solidFill>
              </a:rPr>
              <a:t>Wrong recipient: the champion may have left. Wrong message: a backlog and a failed payment need different calls. Wrong trigger: scores near a line flip weekly.</a:t>
            </a:r>
            <a:endParaRPr lang="en-US" sz="1400" dirty="0"/>
          </a:p>
          <a:p>
            <a:pPr indent="0" marL="0">
              <a:buNone/>
            </a:pPr>
            <a:endParaRPr lang="en-US" sz="1400" dirty="0"/>
          </a:p>
          <a:p>
            <a:pPr indent="0" marL="0">
              <a:buNone/>
            </a:pPr>
            <a:r>
              <a:rPr lang="en-US" sz="1400" dirty="0">
                <a:solidFill>
                  <a:schemeClr val="tx2"/>
                </a:solidFill>
              </a:rPr>
              <a:t>Instead: a task, escalated after 5 business days near renewal. Nothing goes unseen.</a:t>
            </a:r>
            <a:endParaRPr lang="en-US" sz="1400" dirty="0"/>
          </a:p>
        </p:txBody>
      </p:sp>
      <p:sp>
        <p:nvSpPr>
          <p:cNvPr id="7" name="card Colour from rank"/>
          <p:cNvSpPr/>
          <p:nvPr/>
        </p:nvSpPr>
        <p:spPr>
          <a:xfrm>
            <a:off x="4297680" y="1463040"/>
            <a:ext cx="3520440" cy="3566160"/>
          </a:xfrm>
          <a:prstGeom prst="roundRect">
            <a:avLst>
              <a:gd name="adj" fmla="val 2078"/>
            </a:avLst>
          </a:prstGeom>
          <a:solidFill>
            <a:schemeClr val="bg2"/>
          </a:solidFill>
          <a:ln w="12700">
            <a:solidFill>
              <a:schemeClr val="bg2"/>
            </a:solidFill>
            <a:prstDash val="solid"/>
          </a:ln>
        </p:spPr>
      </p:sp>
      <p:sp>
        <p:nvSpPr>
          <p:cNvPr id="8" name="Shape 6"/>
          <p:cNvSpPr/>
          <p:nvPr/>
        </p:nvSpPr>
        <p:spPr>
          <a:xfrm>
            <a:off x="4526280" y="1719072"/>
            <a:ext cx="292608" cy="292608"/>
          </a:xfrm>
          <a:prstGeom prst="ellipse">
            <a:avLst/>
          </a:prstGeom>
          <a:solidFill>
            <a:schemeClr val="accent4"/>
          </a:solidFill>
          <a:ln w="12700">
            <a:solidFill>
              <a:schemeClr val="accent4"/>
            </a:solidFill>
            <a:prstDash val="solid"/>
          </a:ln>
        </p:spPr>
      </p:sp>
      <p:sp>
        <p:nvSpPr>
          <p:cNvPr id="9" name="Text 7"/>
          <p:cNvSpPr txBox="1"/>
          <p:nvPr/>
        </p:nvSpPr>
        <p:spPr>
          <a:xfrm>
            <a:off x="4937760" y="162763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Colour from rank</a:t>
            </a:r>
            <a:endParaRPr lang="en-US" sz="1800" dirty="0"/>
          </a:p>
        </p:txBody>
      </p:sp>
      <p:sp>
        <p:nvSpPr>
          <p:cNvPr id="10" name="Text 8"/>
          <p:cNvSpPr txBox="1"/>
          <p:nvPr/>
        </p:nvSpPr>
        <p:spPr>
          <a:xfrm>
            <a:off x="4526280" y="2176272"/>
            <a:ext cx="3063240" cy="2697480"/>
          </a:xfrm>
          <a:prstGeom prst="rect">
            <a:avLst/>
          </a:prstGeom>
          <a:noFill/>
          <a:ln/>
        </p:spPr>
        <p:txBody>
          <a:bodyPr wrap="square" lIns="1524" tIns="1524" rIns="1524" bIns="1524" rtlCol="0" anchor="t"/>
          <a:lstStyle/>
          <a:p>
            <a:pPr indent="0" marL="0">
              <a:buNone/>
            </a:pPr>
            <a:r>
              <a:rPr lang="en-US" sz="1400" dirty="0">
                <a:solidFill>
                  <a:schemeClr val="tx2"/>
                </a:solidFill>
              </a:rPr>
              <a:t>Red is the top 8 of the CSM's book, yellow the next 16. Every CSM always has a week of red.</a:t>
            </a:r>
            <a:endParaRPr lang="en-US" sz="1400" dirty="0"/>
          </a:p>
          <a:p>
            <a:pPr indent="0" marL="0">
              <a:buNone/>
            </a:pPr>
            <a:endParaRPr lang="en-US" sz="1400" dirty="0"/>
          </a:p>
          <a:p>
            <a:pPr indent="0" marL="0">
              <a:buNone/>
            </a:pPr>
            <a:r>
              <a:rPr lang="en-US" sz="1400" dirty="0">
                <a:solidFill>
                  <a:schemeClr val="tx2"/>
                </a:solidFill>
              </a:rPr>
              <a:t>Fixed probability bands drift with every retrain. Probability and ARR stay visible as columns.</a:t>
            </a:r>
            <a:endParaRPr lang="en-US" sz="1400" dirty="0"/>
          </a:p>
        </p:txBody>
      </p:sp>
      <p:sp>
        <p:nvSpPr>
          <p:cNvPr id="11" name="card Rank by ARR at risk"/>
          <p:cNvSpPr/>
          <p:nvPr/>
        </p:nvSpPr>
        <p:spPr>
          <a:xfrm>
            <a:off x="8046720" y="1463040"/>
            <a:ext cx="3520440" cy="3566160"/>
          </a:xfrm>
          <a:prstGeom prst="roundRect">
            <a:avLst>
              <a:gd name="adj" fmla="val 2078"/>
            </a:avLst>
          </a:prstGeom>
          <a:solidFill>
            <a:schemeClr val="bg2"/>
          </a:solidFill>
          <a:ln w="12700">
            <a:solidFill>
              <a:schemeClr val="bg2"/>
            </a:solidFill>
            <a:prstDash val="solid"/>
          </a:ln>
        </p:spPr>
      </p:sp>
      <p:sp>
        <p:nvSpPr>
          <p:cNvPr id="12" name="Shape 10"/>
          <p:cNvSpPr/>
          <p:nvPr/>
        </p:nvSpPr>
        <p:spPr>
          <a:xfrm>
            <a:off x="8275320" y="1719072"/>
            <a:ext cx="292608" cy="292608"/>
          </a:xfrm>
          <a:prstGeom prst="ellipse">
            <a:avLst/>
          </a:prstGeom>
          <a:solidFill>
            <a:schemeClr val="accent5"/>
          </a:solidFill>
          <a:ln w="12700">
            <a:solidFill>
              <a:schemeClr val="accent5"/>
            </a:solidFill>
            <a:prstDash val="solid"/>
          </a:ln>
        </p:spPr>
      </p:sp>
      <p:sp>
        <p:nvSpPr>
          <p:cNvPr id="13" name="Text 11"/>
          <p:cNvSpPr txBox="1"/>
          <p:nvPr/>
        </p:nvSpPr>
        <p:spPr>
          <a:xfrm>
            <a:off x="8686800" y="1627632"/>
            <a:ext cx="2697480" cy="457200"/>
          </a:xfrm>
          <a:prstGeom prst="rect">
            <a:avLst/>
          </a:prstGeom>
          <a:noFill/>
          <a:ln/>
        </p:spPr>
        <p:txBody>
          <a:bodyPr wrap="square" lIns="1524" tIns="1524" rIns="1524" bIns="1524" rtlCol="0" anchor="ctr"/>
          <a:lstStyle/>
          <a:p>
            <a:pPr indent="0" marL="0">
              <a:buNone/>
            </a:pPr>
            <a:r>
              <a:rPr lang="en-US" sz="1800" b="1" dirty="0">
                <a:solidFill>
                  <a:schemeClr val="tx1"/>
                </a:solidFill>
              </a:rPr>
              <a:t>Rank by ARR at risk</a:t>
            </a:r>
            <a:endParaRPr lang="en-US" sz="1800" dirty="0"/>
          </a:p>
        </p:txBody>
      </p:sp>
      <p:sp>
        <p:nvSpPr>
          <p:cNvPr id="14" name="Text 12"/>
          <p:cNvSpPr txBox="1"/>
          <p:nvPr/>
        </p:nvSpPr>
        <p:spPr>
          <a:xfrm>
            <a:off x="8275320" y="2176272"/>
            <a:ext cx="3063240" cy="2697480"/>
          </a:xfrm>
          <a:prstGeom prst="rect">
            <a:avLst/>
          </a:prstGeom>
          <a:noFill/>
          <a:ln/>
        </p:spPr>
        <p:txBody>
          <a:bodyPr wrap="square" lIns="1524" tIns="1524" rIns="1524" bIns="1524" rtlCol="0" anchor="t"/>
          <a:lstStyle/>
          <a:p>
            <a:pPr indent="0" marL="0">
              <a:buNone/>
            </a:pPr>
            <a:r>
              <a:rPr lang="en-US" sz="1400" dirty="0">
                <a:solidFill>
                  <a:schemeClr val="tx2"/>
                </a:solidFill>
              </a:rPr>
              <a:t>A $2k account at 60% should not outrank a $200k account at 50%. Rank score is probability x ARR, with one-click re-sort.</a:t>
            </a:r>
            <a:endParaRPr lang="en-US" sz="1400" dirty="0"/>
          </a:p>
          <a:p>
            <a:pPr indent="0" marL="0">
              <a:buNone/>
            </a:pPr>
            <a:endParaRPr lang="en-US" sz="1400" dirty="0"/>
          </a:p>
          <a:p>
            <a:pPr indent="0" marL="0">
              <a:buNone/>
            </a:pPr>
            <a:r>
              <a:rPr lang="en-US" sz="1400" dirty="0">
                <a:solidFill>
                  <a:schemeClr val="tx2"/>
                </a:solidFill>
              </a:rPr>
              <a:t>Label: the next renewal's outcome, so accounts far from renewal still get early warning.</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Where the build diverged from the plan, honestly</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3566160"/>
                <a:gridCol w="4572000"/>
              </a:tblGrid>
              <a:tr h="685800">
                <a:tc>
                  <a:txBody>
                    <a:bodyPr/>
                    <a:lstStyle/>
                    <a:p>
                      <a:pPr indent="0" marL="0">
                        <a:buNone/>
                      </a:pPr>
                      <a:r>
                        <a:rPr lang="en-US" sz="1500" b="1" dirty="0">
                          <a:solidFill>
                            <a:schemeClr val="bg1"/>
                          </a:solidFill>
                        </a:rPr>
                        <a:t>Planned</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Built</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Why</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tx1"/>
                          </a:solidFill>
                        </a:rPr>
                        <a:t>Railway</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One GCP VM, same Docker Compose</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Asked for GCP; keeps the worker awake for ~$21 a month</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r>
              <a:tr h="685800">
                <a:tc>
                  <a:txBody>
                    <a:bodyPr/>
                    <a:lstStyle/>
                    <a:p>
                      <a:pPr indent="0" marL="0">
                        <a:buNone/>
                      </a:pPr>
                      <a:r>
                        <a:rPr lang="en-US" sz="1500" dirty="0">
                          <a:solidFill>
                            <a:schemeClr val="tx1"/>
                          </a:solidFill>
                        </a:rPr>
                        <a:t>LightGBM clearly ahead</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Within noise of logistic regression</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Kept by a margin rule I set after the first run showed a tie; either is defensible</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r>
              <a:tr h="685800">
                <a:tc>
                  <a:txBody>
                    <a:bodyPr/>
                    <a:lstStyle/>
                    <a:p>
                      <a:pPr indent="0" marL="0">
                        <a:buNone/>
                      </a:pPr>
                      <a:r>
                        <a:rPr lang="en-US" sz="1500" dirty="0">
                          <a:solidFill>
                            <a:schemeClr val="tx1"/>
                          </a:solidFill>
                        </a:rPr>
                        <a:t>LLM paragraph in briefings</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 2-sentence summary, every number checked</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Runs after the night, sees only the reasons; off until a key is set</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r>
              <a:tr h="685800">
                <a:tc>
                  <a:txBody>
                    <a:bodyPr/>
                    <a:lstStyle/>
                    <a:p>
                      <a:pPr indent="0" marL="0">
                        <a:buNone/>
                      </a:pPr>
                      <a:r>
                        <a:rPr lang="en-US" sz="1500" dirty="0">
                          <a:solidFill>
                            <a:schemeClr val="tx1"/>
                          </a:solidFill>
                        </a:rPr>
                        <a:t>10 planted cases caught</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7 of 10 in time, 9 of 10 for the right reason</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Churn is noisy by design; reported, not tuned away</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r>
              <a:tr h="685800">
                <a:tc>
                  <a:txBody>
                    <a:bodyPr/>
                    <a:lstStyle/>
                    <a:p>
                      <a:pPr indent="0" marL="0">
                        <a:buNone/>
                      </a:pPr>
                      <a:r>
                        <a:rPr lang="en-US" sz="1500" dirty="0">
                          <a:solidFill>
                            <a:schemeClr val="tx1"/>
                          </a:solidFill>
                        </a:rPr>
                        <a:t>All reasons shown</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Only actionable signals</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'Contract size' is true but not a reason to call</a:t>
                      </a:r>
                      <a:endParaRPr lang="en-US" sz="1500" dirty="0"/>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Beats rules and the calendar; ties logistic regression</a:t>
            </a:r>
            <a:endParaRPr lang="en-US" sz="3200" dirty="0"/>
          </a:p>
        </p:txBody>
      </p:sp>
      <p:graphicFrame>
        <p:nvGraphicFramePr>
          <p:cNvPr id="3" name="Chart 0" descr=""/>
          <p:cNvGraphicFramePr/>
          <p:nvPr/>
        </p:nvGraphicFramePr>
        <p:xfrm>
          <a:off x="548640" y="132588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371600"/>
            <a:ext cx="1737360" cy="914400"/>
          </a:xfrm>
          <a:prstGeom prst="rect">
            <a:avLst/>
          </a:prstGeom>
          <a:noFill/>
          <a:ln/>
        </p:spPr>
        <p:txBody>
          <a:bodyPr wrap="square" lIns="1524" tIns="1524" rIns="1524" bIns="1524"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21.8%</a:t>
            </a:r>
            <a:endParaRPr lang="en-US" sz="3000" dirty="0"/>
          </a:p>
        </p:txBody>
      </p:sp>
      <p:sp>
        <p:nvSpPr>
          <p:cNvPr id="5" name="Text 2"/>
          <p:cNvSpPr txBox="1"/>
          <p:nvPr/>
        </p:nvSpPr>
        <p:spPr>
          <a:xfrm>
            <a:off x="9418320" y="1417320"/>
            <a:ext cx="2286000" cy="868680"/>
          </a:xfrm>
          <a:prstGeom prst="rect">
            <a:avLst/>
          </a:prstGeom>
          <a:noFill/>
          <a:ln/>
        </p:spPr>
        <p:txBody>
          <a:bodyPr wrap="square" lIns="1524" tIns="1524" rIns="1524" bIns="1524" rtlCol="0" anchor="ctr"/>
          <a:lstStyle/>
          <a:p>
            <a:pPr indent="0" marL="0">
              <a:buNone/>
            </a:pPr>
            <a:r>
              <a:rPr lang="en-US" sz="1400" dirty="0">
                <a:solidFill>
                  <a:schemeClr val="tx2"/>
                </a:solidFill>
              </a:rPr>
              <a:t>recall@8 per CSM-week (rules 14.8%)</a:t>
            </a:r>
            <a:endParaRPr lang="en-US" sz="1400" dirty="0"/>
          </a:p>
        </p:txBody>
      </p:sp>
      <p:sp>
        <p:nvSpPr>
          <p:cNvPr id="6" name="Text 3"/>
          <p:cNvSpPr txBox="1"/>
          <p:nvPr/>
        </p:nvSpPr>
        <p:spPr>
          <a:xfrm>
            <a:off x="7680960" y="2606040"/>
            <a:ext cx="1737360" cy="914400"/>
          </a:xfrm>
          <a:prstGeom prst="rect">
            <a:avLst/>
          </a:prstGeom>
          <a:noFill/>
          <a:ln/>
        </p:spPr>
        <p:txBody>
          <a:bodyPr wrap="square" lIns="1524" tIns="1524" rIns="1524" bIns="1524"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+0.009</a:t>
            </a:r>
            <a:endParaRPr lang="en-US" sz="3000" dirty="0"/>
          </a:p>
        </p:txBody>
      </p:sp>
      <p:sp>
        <p:nvSpPr>
          <p:cNvPr id="7" name="Text 4"/>
          <p:cNvSpPr txBox="1"/>
          <p:nvPr/>
        </p:nvSpPr>
        <p:spPr>
          <a:xfrm>
            <a:off x="9418320" y="2651760"/>
            <a:ext cx="2286000" cy="868680"/>
          </a:xfrm>
          <a:prstGeom prst="rect">
            <a:avLst/>
          </a:prstGeom>
          <a:noFill/>
          <a:ln/>
        </p:spPr>
        <p:txBody>
          <a:bodyPr wrap="square" lIns="1524" tIns="1524" rIns="1524" bIns="1524" rtlCol="0" anchor="ctr"/>
          <a:lstStyle/>
          <a:p>
            <a:pPr indent="0" marL="0">
              <a:buNone/>
            </a:pPr>
            <a:r>
              <a:rPr lang="en-US" sz="1400" dirty="0">
                <a:solidFill>
                  <a:schemeClr val="tx2"/>
                </a:solidFill>
              </a:rPr>
              <a:t>LightGBM minus LR, 95% CI −0.009 to +0.028</a:t>
            </a:r>
            <a:endParaRPr lang="en-US" sz="1400" dirty="0"/>
          </a:p>
        </p:txBody>
      </p:sp>
      <p:sp>
        <p:nvSpPr>
          <p:cNvPr id="8" name="Text 5"/>
          <p:cNvSpPr txBox="1"/>
          <p:nvPr/>
        </p:nvSpPr>
        <p:spPr>
          <a:xfrm>
            <a:off x="7680960" y="3840480"/>
            <a:ext cx="1737360" cy="914400"/>
          </a:xfrm>
          <a:prstGeom prst="rect">
            <a:avLst/>
          </a:prstGeom>
          <a:noFill/>
          <a:ln/>
        </p:spPr>
        <p:txBody>
          <a:bodyPr wrap="square" lIns="1524" tIns="1524" rIns="1524" bIns="1524"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0.8%</a:t>
            </a:r>
            <a:endParaRPr lang="en-US" sz="3000" dirty="0"/>
          </a:p>
        </p:txBody>
      </p:sp>
      <p:sp>
        <p:nvSpPr>
          <p:cNvPr id="9" name="Text 6"/>
          <p:cNvSpPr txBox="1"/>
          <p:nvPr/>
        </p:nvSpPr>
        <p:spPr>
          <a:xfrm>
            <a:off x="9418320" y="3886200"/>
            <a:ext cx="2286000" cy="868680"/>
          </a:xfrm>
          <a:prstGeom prst="rect">
            <a:avLst/>
          </a:prstGeom>
          <a:noFill/>
          <a:ln/>
        </p:spPr>
        <p:txBody>
          <a:bodyPr wrap="square" lIns="1524" tIns="1524" rIns="1524" bIns="1524" rtlCol="0" anchor="ctr"/>
          <a:lstStyle/>
          <a:p>
            <a:pPr indent="0" marL="0">
              <a:buNone/>
            </a:pPr>
            <a:r>
              <a:rPr lang="en-US" sz="1400" dirty="0">
                <a:solidFill>
                  <a:schemeClr val="tx2"/>
                </a:solidFill>
              </a:rPr>
              <a:t>share of the model that is days to renewal</a:t>
            </a:r>
            <a:endParaRPr lang="en-US" sz="1400" dirty="0"/>
          </a:p>
        </p:txBody>
      </p:sp>
      <p:sp>
        <p:nvSpPr>
          <p:cNvPr id="10" name="Text 7"/>
          <p:cNvSpPr txBox="1"/>
          <p:nvPr/>
        </p:nvSpPr>
        <p:spPr>
          <a:xfrm>
            <a:off x="7680960" y="5074920"/>
            <a:ext cx="1737360" cy="914400"/>
          </a:xfrm>
          <a:prstGeom prst="rect">
            <a:avLst/>
          </a:prstGeom>
          <a:noFill/>
          <a:ln/>
        </p:spPr>
        <p:txBody>
          <a:bodyPr wrap="square" lIns="1524" tIns="1524" rIns="1524" bIns="1524"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0.48</a:t>
            </a:r>
            <a:endParaRPr lang="en-US" sz="3000" dirty="0"/>
          </a:p>
        </p:txBody>
      </p:sp>
      <p:sp>
        <p:nvSpPr>
          <p:cNvPr id="11" name="Text 8"/>
          <p:cNvSpPr txBox="1"/>
          <p:nvPr/>
        </p:nvSpPr>
        <p:spPr>
          <a:xfrm>
            <a:off x="9418320" y="5120640"/>
            <a:ext cx="2286000" cy="868680"/>
          </a:xfrm>
          <a:prstGeom prst="rect">
            <a:avLst/>
          </a:prstGeom>
          <a:noFill/>
          <a:ln/>
        </p:spPr>
        <p:txBody>
          <a:bodyPr wrap="square" lIns="1524" tIns="1524" rIns="1524" bIns="1524" rtlCol="0" anchor="ctr"/>
          <a:lstStyle/>
          <a:p>
            <a:pPr indent="0" marL="0">
              <a:buNone/>
            </a:pPr>
            <a:r>
              <a:rPr lang="en-US" sz="1400" dirty="0">
                <a:solidFill>
                  <a:schemeClr val="tx2"/>
                </a:solidFill>
              </a:rPr>
              <a:t>shuffled-label AUC: no leakage</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The night runs itself, and every step is a row</a:t>
            </a:r>
            <a:endParaRPr lang="en-US" sz="3200" dirty="0"/>
          </a:p>
        </p:txBody>
      </p:sp>
      <p:sp>
        <p:nvSpPr>
          <p:cNvPr id="3" name="stage Ingest"/>
          <p:cNvSpPr/>
          <p:nvPr/>
        </p:nvSpPr>
        <p:spPr>
          <a:xfrm>
            <a:off x="548640" y="1463040"/>
            <a:ext cx="1417320" cy="822960"/>
          </a:xfrm>
          <a:prstGeom prst="roundRect">
            <a:avLst>
              <a:gd name="adj" fmla="val 8889"/>
            </a:avLst>
          </a:prstGeom>
          <a:solidFill>
            <a:schemeClr val="tx2"/>
          </a:solidFill>
          <a:ln w="12700">
            <a:solidFill>
              <a:schemeClr val="tx2"/>
            </a:solidFill>
            <a:prstDash val="solid"/>
          </a:ln>
        </p:spPr>
      </p:sp>
      <p:sp>
        <p:nvSpPr>
          <p:cNvPr id="4" name="Text 2"/>
          <p:cNvSpPr txBox="1"/>
          <p:nvPr/>
        </p:nvSpPr>
        <p:spPr>
          <a:xfrm>
            <a:off x="5486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Ingest</a:t>
            </a:r>
            <a:endParaRPr lang="en-US" sz="1400" dirty="0"/>
          </a:p>
        </p:txBody>
      </p:sp>
      <p:sp>
        <p:nvSpPr>
          <p:cNvPr id="5" name="stage Snapshot"/>
          <p:cNvSpPr/>
          <p:nvPr/>
        </p:nvSpPr>
        <p:spPr>
          <a:xfrm>
            <a:off x="2148840" y="1463040"/>
            <a:ext cx="1417320" cy="822960"/>
          </a:xfrm>
          <a:prstGeom prst="roundRect">
            <a:avLst>
              <a:gd name="adj" fmla="val 8889"/>
            </a:avLst>
          </a:prstGeom>
          <a:solidFill>
            <a:schemeClr val="tx2"/>
          </a:solidFill>
          <a:ln w="12700">
            <a:solidFill>
              <a:schemeClr val="tx2"/>
            </a:solidFill>
            <a:prstDash val="solid"/>
          </a:ln>
        </p:spPr>
      </p:sp>
      <p:sp>
        <p:nvSpPr>
          <p:cNvPr id="6" name="Text 4"/>
          <p:cNvSpPr txBox="1"/>
          <p:nvPr/>
        </p:nvSpPr>
        <p:spPr>
          <a:xfrm>
            <a:off x="21488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Snapshot</a:t>
            </a:r>
            <a:endParaRPr lang="en-US" sz="1400" dirty="0"/>
          </a:p>
        </p:txBody>
      </p:sp>
      <p:sp>
        <p:nvSpPr>
          <p:cNvPr id="7" name="stage Score"/>
          <p:cNvSpPr/>
          <p:nvPr/>
        </p:nvSpPr>
        <p:spPr>
          <a:xfrm>
            <a:off x="3749040" y="1463040"/>
            <a:ext cx="1417320" cy="822960"/>
          </a:xfrm>
          <a:prstGeom prst="roundRect">
            <a:avLst>
              <a:gd name="adj" fmla="val 8889"/>
            </a:avLst>
          </a:prstGeom>
          <a:solidFill>
            <a:schemeClr val="tx2"/>
          </a:solidFill>
          <a:ln w="12700">
            <a:solidFill>
              <a:schemeClr val="tx2"/>
            </a:solidFill>
            <a:prstDash val="solid"/>
          </a:ln>
        </p:spPr>
      </p:sp>
      <p:sp>
        <p:nvSpPr>
          <p:cNvPr id="8" name="Text 6"/>
          <p:cNvSpPr txBox="1"/>
          <p:nvPr/>
        </p:nvSpPr>
        <p:spPr>
          <a:xfrm>
            <a:off x="37490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Score</a:t>
            </a:r>
            <a:endParaRPr lang="en-US" sz="1400" dirty="0"/>
          </a:p>
        </p:txBody>
      </p:sp>
      <p:sp>
        <p:nvSpPr>
          <p:cNvPr id="9" name="stage Gate"/>
          <p:cNvSpPr/>
          <p:nvPr/>
        </p:nvSpPr>
        <p:spPr>
          <a:xfrm>
            <a:off x="5349240" y="1463040"/>
            <a:ext cx="1417320" cy="822960"/>
          </a:xfrm>
          <a:prstGeom prst="roundRect">
            <a:avLst>
              <a:gd name="adj" fmla="val 8889"/>
            </a:avLst>
          </a:prstGeom>
          <a:solidFill>
            <a:schemeClr val="accent1"/>
          </a:solidFill>
          <a:ln w="12700">
            <a:solidFill>
              <a:schemeClr val="accent1"/>
            </a:solidFill>
            <a:prstDash val="solid"/>
          </a:ln>
        </p:spPr>
      </p:sp>
      <p:sp>
        <p:nvSpPr>
          <p:cNvPr id="10" name="Text 8"/>
          <p:cNvSpPr txBox="1"/>
          <p:nvPr/>
        </p:nvSpPr>
        <p:spPr>
          <a:xfrm>
            <a:off x="53492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Gate</a:t>
            </a:r>
            <a:endParaRPr lang="en-US" sz="1400" dirty="0"/>
          </a:p>
        </p:txBody>
      </p:sp>
      <p:sp>
        <p:nvSpPr>
          <p:cNvPr id="11" name="stage Transitions"/>
          <p:cNvSpPr/>
          <p:nvPr/>
        </p:nvSpPr>
        <p:spPr>
          <a:xfrm>
            <a:off x="6949440" y="1463040"/>
            <a:ext cx="1417320" cy="822960"/>
          </a:xfrm>
          <a:prstGeom prst="roundRect">
            <a:avLst>
              <a:gd name="adj" fmla="val 8889"/>
            </a:avLst>
          </a:prstGeom>
          <a:solidFill>
            <a:schemeClr val="tx2"/>
          </a:solidFill>
          <a:ln w="12700">
            <a:solidFill>
              <a:schemeClr val="tx2"/>
            </a:solidFill>
            <a:prstDash val="solid"/>
          </a:ln>
        </p:spPr>
      </p:sp>
      <p:sp>
        <p:nvSpPr>
          <p:cNvPr id="12" name="Text 10"/>
          <p:cNvSpPr txBox="1"/>
          <p:nvPr/>
        </p:nvSpPr>
        <p:spPr>
          <a:xfrm>
            <a:off x="69494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Transitions</a:t>
            </a:r>
            <a:endParaRPr lang="en-US" sz="1400" dirty="0"/>
          </a:p>
        </p:txBody>
      </p:sp>
      <p:sp>
        <p:nvSpPr>
          <p:cNvPr id="13" name="stage Policy + tasks"/>
          <p:cNvSpPr/>
          <p:nvPr/>
        </p:nvSpPr>
        <p:spPr>
          <a:xfrm>
            <a:off x="8549640" y="1463040"/>
            <a:ext cx="1417320" cy="822960"/>
          </a:xfrm>
          <a:prstGeom prst="roundRect">
            <a:avLst>
              <a:gd name="adj" fmla="val 8889"/>
            </a:avLst>
          </a:prstGeom>
          <a:solidFill>
            <a:schemeClr val="tx2"/>
          </a:solidFill>
          <a:ln w="12700">
            <a:solidFill>
              <a:schemeClr val="tx2"/>
            </a:solidFill>
            <a:prstDash val="solid"/>
          </a:ln>
        </p:spPr>
      </p:sp>
      <p:sp>
        <p:nvSpPr>
          <p:cNvPr id="14" name="Text 12"/>
          <p:cNvSpPr txBox="1"/>
          <p:nvPr/>
        </p:nvSpPr>
        <p:spPr>
          <a:xfrm>
            <a:off x="85496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Policy + tasks</a:t>
            </a:r>
            <a:endParaRPr lang="en-US" sz="1400" dirty="0"/>
          </a:p>
        </p:txBody>
      </p:sp>
      <p:sp>
        <p:nvSpPr>
          <p:cNvPr id="15" name="stage Escalation"/>
          <p:cNvSpPr/>
          <p:nvPr/>
        </p:nvSpPr>
        <p:spPr>
          <a:xfrm>
            <a:off x="10149840" y="1463040"/>
            <a:ext cx="1417320" cy="822960"/>
          </a:xfrm>
          <a:prstGeom prst="roundRect">
            <a:avLst>
              <a:gd name="adj" fmla="val 8889"/>
            </a:avLst>
          </a:prstGeom>
          <a:solidFill>
            <a:schemeClr val="tx2"/>
          </a:solidFill>
          <a:ln w="12700">
            <a:solidFill>
              <a:schemeClr val="tx2"/>
            </a:solidFill>
            <a:prstDash val="solid"/>
          </a:ln>
        </p:spPr>
      </p:sp>
      <p:sp>
        <p:nvSpPr>
          <p:cNvPr id="16" name="Text 14"/>
          <p:cNvSpPr txBox="1"/>
          <p:nvPr/>
        </p:nvSpPr>
        <p:spPr>
          <a:xfrm>
            <a:off x="10149840" y="1463040"/>
            <a:ext cx="1417320" cy="822960"/>
          </a:xfrm>
          <a:prstGeom prst="rect">
            <a:avLst/>
          </a:prstGeom>
          <a:noFill/>
          <a:ln/>
        </p:spPr>
        <p:txBody>
          <a:bodyPr wrap="square" lIns="635" tIns="635" rIns="635" bIns="635" rtlCol="0" anchor="ctr"/>
          <a:lstStyle/>
          <a:p>
            <a:pPr algn="ctr" indent="0" marL="0">
              <a:buNone/>
            </a:pPr>
            <a:r>
              <a:rPr lang="en-US" sz="1400" b="1" dirty="0">
                <a:solidFill>
                  <a:schemeClr val="bg1"/>
                </a:solidFill>
              </a:rPr>
              <a:t>Escalation</a:t>
            </a:r>
            <a:endParaRPr lang="en-US" sz="1400" dirty="0"/>
          </a:p>
        </p:txBody>
      </p:sp>
      <p:sp>
        <p:nvSpPr>
          <p:cNvPr id="17" name="Text 15"/>
          <p:cNvSpPr txBox="1"/>
          <p:nvPr/>
        </p:nvSpPr>
        <p:spPr>
          <a:xfrm>
            <a:off x="548640" y="2468880"/>
            <a:ext cx="11064240" cy="640080"/>
          </a:xfrm>
          <a:prstGeom prst="rect">
            <a:avLst/>
          </a:prstGeom>
          <a:noFill/>
          <a:ln/>
        </p:spPr>
        <p:txBody>
          <a:bodyPr wrap="square" lIns="1524" tIns="1524" rIns="1524" bIns="1524" rtlCol="0" anchor="t"/>
          <a:lstStyle/>
          <a:p>
            <a:pPr indent="0" marL="0">
              <a:buNone/>
            </a:pPr>
            <a:r>
              <a:rPr lang="en-US" sz="1500" dirty="0">
                <a:solidFill>
                  <a:schemeClr val="tx2"/>
                </a:solidFill>
              </a:rPr>
              <a:t>A tripped data-quality gate rolls the night back: nothing after it is published, and the list keeps the last good night with a warning.</a:t>
            </a:r>
            <a:endParaRPr lang="en-US" sz="1500" dirty="0"/>
          </a:p>
        </p:txBody>
      </p:sp>
      <p:sp>
        <p:nvSpPr>
          <p:cNvPr id="18" name="Text 16"/>
          <p:cNvSpPr txBox="1"/>
          <p:nvPr/>
        </p:nvSpPr>
        <p:spPr>
          <a:xfrm>
            <a:off x="548640" y="3291840"/>
            <a:ext cx="5486400" cy="2377440"/>
          </a:xfrm>
          <a:prstGeom prst="rect">
            <a:avLst/>
          </a:prstGeom>
          <a:noFill/>
          <a:ln/>
        </p:spPr>
        <p:txBody>
          <a:bodyPr wrap="square" lIns="1524" tIns="1524" rIns="1524" bIns="1524" rtlCol="0" anchor="t"/>
          <a:lstStyle/>
          <a:p>
            <a:pPr indent="0" marL="0">
              <a:buNone/>
            </a:pPr>
            <a:r>
              <a:rPr lang="en-US" sz="2000" b="1" dirty="0">
                <a:solidFill>
                  <a:schemeClr val="accent2"/>
                </a:solidFill>
              </a:rPr>
              <a:t>02:00 UTC, 17 Oct 2026 · trigger = schedule</a:t>
            </a:r>
            <a:endParaRPr lang="en-US" sz="1500" dirty="0"/>
          </a:p>
          <a:p>
            <a:pPr indent="0" marL="0">
              <a:buNone/>
            </a:pPr>
            <a:r>
              <a:rPr lang="en-US" sz="1500" dirty="0">
                <a:solidFill>
                  <a:schemeClr val="tx1"/>
                </a:solidFill>
              </a:rPr>
              <a:t>All five tenants succeeded in 21 s: 999 new events ingested, 18 quarantined, 12 replays rejected, mean probability moved &lt; 0.002.</a:t>
            </a:r>
            <a:endParaRPr lang="en-US" sz="1500" dirty="0"/>
          </a:p>
        </p:txBody>
      </p:sp>
      <p:sp>
        <p:nvSpPr>
          <p:cNvPr id="19" name="Text 17"/>
          <p:cNvSpPr txBox="1"/>
          <p:nvPr/>
        </p:nvSpPr>
        <p:spPr>
          <a:xfrm>
            <a:off x="6400800" y="3291840"/>
            <a:ext cx="5212080" cy="2926080"/>
          </a:xfrm>
          <a:prstGeom prst="rect">
            <a:avLst/>
          </a:prstGeom>
          <a:noFill/>
          <a:ln/>
        </p:spPr>
        <p:txBody>
          <a:bodyPr wrap="square" lIns="1524" tIns="1524" rIns="1524" bIns="1524" rtlCol="0" anchor="t"/>
          <a:lstStyle/>
          <a:p>
            <a:pPr indent="0" marL="0">
              <a:buNone/>
            </a:pPr>
            <a:r>
              <a:rPr lang="en-US" sz="1500" b="1" dirty="0">
                <a:solidFill>
                  <a:schemeClr val="tx1"/>
                </a:solidFill>
              </a:rPr>
              <a:t>Rerun safe</a:t>
            </a:r>
            <a:endParaRPr lang="en-US" sz="1500" dirty="0"/>
          </a:p>
          <a:p>
            <a:pPr indent="0" marL="0">
              <a:buNone/>
            </a:pPr>
            <a:r>
              <a:rPr lang="en-US" sz="1500" dirty="0">
                <a:solidFill>
                  <a:schemeClr val="tx1"/>
                </a:solidFill>
              </a:rPr>
              <a:t>A succeeded night is a no-op; a failed one is re-claimed; every write is keyed.</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tx1"/>
                </a:solidFill>
              </a:rPr>
              <a:t>No flapping</a:t>
            </a:r>
            <a:endParaRPr lang="en-US" sz="1500" dirty="0"/>
          </a:p>
          <a:p>
            <a:pPr indent="0" marL="0">
              <a:buNone/>
            </a:pPr>
            <a:r>
              <a:rPr lang="en-US" sz="1500" dirty="0">
                <a:solidFill>
                  <a:schemeClr val="tx1"/>
                </a:solidFill>
              </a:rPr>
              <a:t>A task needs three nights outside the top 8 first; at most 8 new tasks per CSM per night.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What breaks first at 10x, measured</a:t>
            </a:r>
            <a:endParaRPr lang="en-US" sz="3200" dirty="0"/>
          </a:p>
        </p:txBody>
      </p:sp>
      <p:sp>
        <p:nvSpPr>
          <p:cNvPr id="3" name="axis 10x events"/>
          <p:cNvSpPr/>
          <p:nvPr/>
        </p:nvSpPr>
        <p:spPr>
          <a:xfrm>
            <a:off x="548640" y="1371600"/>
            <a:ext cx="3520440" cy="2743200"/>
          </a:xfrm>
          <a:prstGeom prst="roundRect">
            <a:avLst>
              <a:gd name="adj" fmla="val 2667"/>
            </a:avLst>
          </a:prstGeom>
          <a:solidFill>
            <a:schemeClr val="bg2"/>
          </a:solidFill>
          <a:ln w="12700">
            <a:solidFill>
              <a:schemeClr val="bg2"/>
            </a:solidFill>
            <a:prstDash val="solid"/>
          </a:ln>
        </p:spPr>
      </p:sp>
      <p:sp>
        <p:nvSpPr>
          <p:cNvPr id="4" name="Text 2"/>
          <p:cNvSpPr txBox="1"/>
          <p:nvPr/>
        </p:nvSpPr>
        <p:spPr>
          <a:xfrm>
            <a:off x="777240" y="1508760"/>
            <a:ext cx="3063240" cy="457200"/>
          </a:xfrm>
          <a:prstGeom prst="rect">
            <a:avLst/>
          </a:prstGeom>
          <a:noFill/>
          <a:ln/>
        </p:spPr>
        <p:txBody>
          <a:bodyPr wrap="square" lIns="1524" tIns="1524" rIns="1524" bIns="1524" rtlCol="0" anchor="t"/>
          <a:lstStyle/>
          <a:p>
            <a:pPr indent="0" marL="0">
              <a:buNone/>
            </a:pPr>
            <a:r>
              <a:rPr lang="en-US" sz="1800" b="1" dirty="0">
                <a:solidFill>
                  <a:schemeClr val="accent3"/>
                </a:solidFill>
              </a:rPr>
              <a:t>10x events</a:t>
            </a:r>
            <a:endParaRPr lang="en-US" sz="1800" dirty="0"/>
          </a:p>
        </p:txBody>
      </p:sp>
      <p:sp>
        <p:nvSpPr>
          <p:cNvPr id="5" name="Text 3"/>
          <p:cNvSpPr txBox="1"/>
          <p:nvPr/>
        </p:nvSpPr>
        <p:spPr>
          <a:xfrm>
            <a:off x="777240" y="1920240"/>
            <a:ext cx="3063240" cy="914400"/>
          </a:xfrm>
          <a:prstGeom prst="rect">
            <a:avLst/>
          </a:prstGeom>
          <a:noFill/>
          <a:ln/>
        </p:spPr>
        <p:txBody>
          <a:bodyPr wrap="square" lIns="1524" tIns="1524" rIns="1524" bIns="1524"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~40 min</a:t>
            </a:r>
            <a:endParaRPr lang="en-US" sz="4000" dirty="0"/>
          </a:p>
        </p:txBody>
      </p:sp>
      <p:sp>
        <p:nvSpPr>
          <p:cNvPr id="6" name="Text 4"/>
          <p:cNvSpPr txBox="1"/>
          <p:nvPr/>
        </p:nvSpPr>
        <p:spPr>
          <a:xfrm>
            <a:off x="777240" y="2880360"/>
            <a:ext cx="3063240" cy="1097280"/>
          </a:xfrm>
          <a:prstGeom prst="rect">
            <a:avLst/>
          </a:prstGeom>
          <a:noFill/>
          <a:ln/>
        </p:spPr>
        <p:txBody>
          <a:bodyPr wrap="square" lIns="1524" tIns="1524" rIns="1524" bIns="1524" rtlCol="0" anchor="t"/>
          <a:lstStyle/>
          <a:p>
            <a:pPr indent="0" marL="0">
              <a:buNone/>
            </a:pPr>
            <a:r>
              <a:rPr lang="en-US" sz="1400" dirty="0">
                <a:solidFill>
                  <a:schemeClr val="tx2"/>
                </a:solidFill>
              </a:rPr>
              <a:t>for one tenant's anchor build on the VM; peaks near 0.9 GB. Breaks first, on memory.</a:t>
            </a:r>
            <a:endParaRPr lang="en-US" sz="1400" dirty="0"/>
          </a:p>
        </p:txBody>
      </p:sp>
      <p:sp>
        <p:nvSpPr>
          <p:cNvPr id="7" name="axis 10x accounts"/>
          <p:cNvSpPr/>
          <p:nvPr/>
        </p:nvSpPr>
        <p:spPr>
          <a:xfrm>
            <a:off x="4297680" y="1371600"/>
            <a:ext cx="3520440" cy="2743200"/>
          </a:xfrm>
          <a:prstGeom prst="roundRect">
            <a:avLst>
              <a:gd name="adj" fmla="val 2667"/>
            </a:avLst>
          </a:prstGeom>
          <a:solidFill>
            <a:schemeClr val="bg2"/>
          </a:solidFill>
          <a:ln w="12700">
            <a:solidFill>
              <a:schemeClr val="bg2"/>
            </a:solidFill>
            <a:prstDash val="solid"/>
          </a:ln>
        </p:spPr>
      </p:sp>
      <p:sp>
        <p:nvSpPr>
          <p:cNvPr id="8" name="Text 6"/>
          <p:cNvSpPr txBox="1"/>
          <p:nvPr/>
        </p:nvSpPr>
        <p:spPr>
          <a:xfrm>
            <a:off x="4526280" y="1508760"/>
            <a:ext cx="3063240" cy="457200"/>
          </a:xfrm>
          <a:prstGeom prst="rect">
            <a:avLst/>
          </a:prstGeom>
          <a:noFill/>
          <a:ln/>
        </p:spPr>
        <p:txBody>
          <a:bodyPr wrap="square" lIns="1524" tIns="1524" rIns="1524" bIns="1524" rtlCol="0" anchor="t"/>
          <a:lstStyle/>
          <a:p>
            <a:pPr indent="0" marL="0">
              <a:buNone/>
            </a:pPr>
            <a:r>
              <a:rPr lang="en-US" sz="1800" b="1" dirty="0">
                <a:solidFill>
                  <a:schemeClr val="accent4"/>
                </a:solidFill>
              </a:rPr>
              <a:t>10x accounts</a:t>
            </a:r>
            <a:endParaRPr lang="en-US" sz="1800" dirty="0"/>
          </a:p>
        </p:txBody>
      </p:sp>
      <p:sp>
        <p:nvSpPr>
          <p:cNvPr id="9" name="Text 7"/>
          <p:cNvSpPr txBox="1"/>
          <p:nvPr/>
        </p:nvSpPr>
        <p:spPr>
          <a:xfrm>
            <a:off x="4526280" y="1920240"/>
            <a:ext cx="3063240" cy="914400"/>
          </a:xfrm>
          <a:prstGeom prst="rect">
            <a:avLst/>
          </a:prstGeom>
          <a:noFill/>
          <a:ln/>
        </p:spPr>
        <p:txBody>
          <a:bodyPr wrap="square" lIns="1524" tIns="1524" rIns="1524" bIns="1524"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~4.5 GB</a:t>
            </a:r>
            <a:endParaRPr lang="en-US" sz="4000" dirty="0"/>
          </a:p>
        </p:txBody>
      </p:sp>
      <p:sp>
        <p:nvSpPr>
          <p:cNvPr id="10" name="Text 8"/>
          <p:cNvSpPr txBox="1"/>
          <p:nvPr/>
        </p:nvSpPr>
        <p:spPr>
          <a:xfrm>
            <a:off x="4526280" y="2880360"/>
            <a:ext cx="3063240" cy="1097280"/>
          </a:xfrm>
          <a:prstGeom prst="rect">
            <a:avLst/>
          </a:prstGeom>
          <a:noFill/>
          <a:ln/>
        </p:spPr>
        <p:txBody>
          <a:bodyPr wrap="square" lIns="1524" tIns="1524" rIns="1524" bIns="1524" rtlCol="0" anchor="t"/>
          <a:lstStyle/>
          <a:p>
            <a:pPr indent="0" marL="0">
              <a:buNone/>
            </a:pPr>
            <a:r>
              <a:rPr lang="en-US" sz="1400" dirty="0">
                <a:solidFill>
                  <a:schemeClr val="tx2"/>
                </a:solidFill>
              </a:rPr>
              <a:t>of snapshots, plus ~3 GB of scores a month. Disk binds within weeks.</a:t>
            </a:r>
            <a:endParaRPr lang="en-US" sz="1400" dirty="0"/>
          </a:p>
        </p:txBody>
      </p:sp>
      <p:sp>
        <p:nvSpPr>
          <p:cNvPr id="11" name="axis 10x tenants"/>
          <p:cNvSpPr/>
          <p:nvPr/>
        </p:nvSpPr>
        <p:spPr>
          <a:xfrm>
            <a:off x="8046720" y="1371600"/>
            <a:ext cx="3520440" cy="2743200"/>
          </a:xfrm>
          <a:prstGeom prst="roundRect">
            <a:avLst>
              <a:gd name="adj" fmla="val 2667"/>
            </a:avLst>
          </a:prstGeom>
          <a:solidFill>
            <a:schemeClr val="bg2"/>
          </a:solidFill>
          <a:ln w="12700">
            <a:solidFill>
              <a:schemeClr val="bg2"/>
            </a:solidFill>
            <a:prstDash val="solid"/>
          </a:ln>
        </p:spPr>
      </p:sp>
      <p:sp>
        <p:nvSpPr>
          <p:cNvPr id="12" name="Text 10"/>
          <p:cNvSpPr txBox="1"/>
          <p:nvPr/>
        </p:nvSpPr>
        <p:spPr>
          <a:xfrm>
            <a:off x="8275320" y="1508760"/>
            <a:ext cx="3063240" cy="457200"/>
          </a:xfrm>
          <a:prstGeom prst="rect">
            <a:avLst/>
          </a:prstGeom>
          <a:noFill/>
          <a:ln/>
        </p:spPr>
        <p:txBody>
          <a:bodyPr wrap="square" lIns="1524" tIns="1524" rIns="1524" bIns="1524" rtlCol="0" anchor="t"/>
          <a:lstStyle/>
          <a:p>
            <a:pPr indent="0" marL="0">
              <a:buNone/>
            </a:pPr>
            <a:r>
              <a:rPr lang="en-US" sz="1800" b="1" dirty="0">
                <a:solidFill>
                  <a:schemeClr val="accent5"/>
                </a:solidFill>
              </a:rPr>
              <a:t>10x tenants</a:t>
            </a:r>
            <a:endParaRPr lang="en-US" sz="1800" dirty="0"/>
          </a:p>
        </p:txBody>
      </p:sp>
      <p:sp>
        <p:nvSpPr>
          <p:cNvPr id="13" name="Text 11"/>
          <p:cNvSpPr txBox="1"/>
          <p:nvPr/>
        </p:nvSpPr>
        <p:spPr>
          <a:xfrm>
            <a:off x="8275320" y="1920240"/>
            <a:ext cx="3063240" cy="914400"/>
          </a:xfrm>
          <a:prstGeom prst="rect">
            <a:avLst/>
          </a:prstGeom>
          <a:noFill/>
          <a:ln/>
        </p:spPr>
        <p:txBody>
          <a:bodyPr wrap="square" lIns="1524" tIns="1524" rIns="1524" bIns="1524"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~3.5 min</a:t>
            </a:r>
            <a:endParaRPr lang="en-US" sz="4000" dirty="0"/>
          </a:p>
        </p:txBody>
      </p:sp>
      <p:sp>
        <p:nvSpPr>
          <p:cNvPr id="14" name="Text 12"/>
          <p:cNvSpPr txBox="1"/>
          <p:nvPr/>
        </p:nvSpPr>
        <p:spPr>
          <a:xfrm>
            <a:off x="8275320" y="2880360"/>
            <a:ext cx="3063240" cy="1097280"/>
          </a:xfrm>
          <a:prstGeom prst="rect">
            <a:avLst/>
          </a:prstGeom>
          <a:noFill/>
          <a:ln/>
        </p:spPr>
        <p:txBody>
          <a:bodyPr wrap="square" lIns="1524" tIns="1524" rIns="1524" bIns="1524" rtlCol="0" anchor="t"/>
          <a:lstStyle/>
          <a:p>
            <a:pPr indent="0" marL="0">
              <a:buNone/>
            </a:pPr>
            <a:r>
              <a:rPr lang="en-US" sz="1400" dirty="0">
                <a:solidFill>
                  <a:schemeClr val="tx2"/>
                </a:solidFill>
              </a:rPr>
              <a:t>for the nightly loop: fine. Bootstrap and training memory bind instead.</a:t>
            </a:r>
            <a:endParaRPr lang="en-US" sz="1400" dirty="0"/>
          </a:p>
        </p:txBody>
      </p:sp>
      <p:sp>
        <p:nvSpPr>
          <p:cNvPr id="15" name="Text 13"/>
          <p:cNvSpPr txBox="1"/>
          <p:nvPr/>
        </p:nvSpPr>
        <p:spPr>
          <a:xfrm>
            <a:off x="548640" y="4480560"/>
            <a:ext cx="11064240" cy="1280160"/>
          </a:xfrm>
          <a:prstGeom prst="rect">
            <a:avLst/>
          </a:prstGeom>
          <a:noFill/>
          <a:ln/>
        </p:spPr>
        <p:txBody>
          <a:bodyPr wrap="square" lIns="1524" tIns="1524" rIns="1524" bIns="1524" rtlCol="0" anchor="t"/>
          <a:lstStyle/>
          <a:p>
            <a:pPr indent="0" marL="0">
              <a:buNone/>
            </a:pPr>
            <a:r>
              <a:rPr lang="en-US" sz="1600" dirty="0">
                <a:solidFill>
                  <a:schemeClr val="tx1"/>
                </a:solidFill>
              </a:rPr>
              <a:t>Today: the whole night takes 21 s. Snapshot ~0.05 ms per event, scoring ~1 ms per account. The plan's hypothesis held, sharpened: the weekly anchor rebuild is O(weeks x events) and runs out of memory before time. Fix: incremental anchors from running aggregates, then retention and a per-tenant queue.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nchor="b"/>
          <a:lstStyle/>
          <a:p>
            <a:pPr algn="l" indent="0" marL="0">
              <a:buNone/>
            </a:pPr>
            <a:r>
              <a:rPr lang="en-US" sz="4400" b="1" dirty="0">
                <a:solidFill>
                  <a:schemeClr val="bg1"/>
                </a:solidFill>
              </a:rPr>
              <a:t>With real data, the first four steps</a:t>
            </a: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nchor="t"/>
          <a:lstStyle/>
          <a:p>
            <a:pPr algn="l" indent="0" marL="0">
              <a:buNone/>
            </a:pPr>
            <a:r>
              <a:rPr lang="en-US" sz="1800" dirty="0">
                <a:solidFill>
                  <a:schemeClr val="bg2"/>
                </a:solidFill>
              </a:rPr>
              <a:t>1. Refit and re-baseline on real renewal outcomes; report the same holdout tables.</a:t>
            </a:r>
            <a:endParaRPr lang="en-US" sz="1800" dirty="0"/>
          </a:p>
          <a:p>
            <a:pPr algn="l" indent="0" marL="0">
              <a:buNone/>
            </a:pPr>
            <a:r>
              <a:rPr lang="en-US" sz="1800" dirty="0">
                <a:solidFill>
                  <a:schemeClr val="bg2"/>
                </a:solidFill>
              </a:rPr>
              <a:t>2. Use CSM dismissal reasons as labels and as a precision signal for K.</a:t>
            </a:r>
            <a:endParaRPr lang="en-US" sz="1800" dirty="0"/>
          </a:p>
          <a:p>
            <a:pPr algn="l" indent="0" marL="0">
              <a:buNone/>
            </a:pPr>
            <a:r>
              <a:rPr lang="en-US" sz="1800" dirty="0">
                <a:solidFill>
                  <a:schemeClr val="bg2"/>
                </a:solidFill>
              </a:rPr>
              <a:t>3. Build anchors incrementally, so history scales with events, not weeks x events.</a:t>
            </a:r>
            <a:endParaRPr lang="en-US" sz="1800" dirty="0"/>
          </a:p>
          <a:p>
            <a:pPr algn="l" indent="0" marL="0">
              <a:buNone/>
            </a:pPr>
            <a:r>
              <a:rPr lang="en-US" sz="1800" dirty="0">
                <a:solidFill>
                  <a:schemeClr val="bg2"/>
                </a:solidFill>
              </a:rPr>
              <a:t>4. Add identity confidence, and connectors that write the same raw-event shape.</a:t>
            </a:r>
            <a:endParaRPr lang="en-US" sz="1800" dirty="0"/>
          </a:p>
        </p:txBody>
      </p:sp>
    </p:spTree>
  </p:cSld>
  <p:clrMapOvr>
    <a:masterClrMapping/>
  </p:clrMapOvr>
</p:sld>
</file>

<file path=ppt/theme/theme1.xml><?xml version="1.0" encoding="utf-8"?>
<a:theme xmlns:a="http://schemas.openxmlformats.org/drawingml/2006/main" name="Monday list">
  <a:themeElements>
    <a:clrScheme name="Monday list">
      <a:dk1>
        <a:srgbClr val="1B2430"/>
      </a:dk1>
      <a:lt1>
        <a:srgbClr val="FFFFFF"/>
      </a:lt1>
      <a:dk2>
        <a:srgbClr val="2B3A4E"/>
      </a:dk2>
      <a:lt2>
        <a:srgbClr val="F2F4F7"/>
      </a:lt2>
      <a:accent1>
        <a:srgbClr val="C2410C"/>
      </a:accent1>
      <a:accent2>
        <a:srgbClr val="0F766E"/>
      </a:accent2>
      <a:accent3>
        <a:srgbClr val="B91C1C"/>
      </a:accent3>
      <a:accent4>
        <a:srgbClr val="D97706"/>
      </a:accent4>
      <a:accent5>
        <a:srgbClr val="15803D"/>
      </a:accent5>
      <a:accent6>
        <a:srgbClr val="64748B"/>
      </a:accent6>
      <a:hlink>
        <a:srgbClr val="0F766E"/>
      </a:hlink>
      <a:folHlink>
        <a:srgbClr val="64748B"/>
      </a:folHlink>
    </a:clrScheme>
    <a:fontScheme name="Monday li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Monday list</dc:title>
  <dc:subject>PptxGenJS Presentation</dc:subject>
  <dc:creator>Utkarsh Jha</dc:creator>
  <cp:lastModifiedBy>Utkarsh Jha</cp:lastModifiedBy>
  <cp:revision>1</cp:revision>
  <dcterms:created xsi:type="dcterms:W3CDTF">2026-10-17T11:34:58Z</dcterms:created>
  <dcterms:modified xsi:type="dcterms:W3CDTF">2026-10-17T11:34:58Z</dcterms:modified>
</cp:coreProperties>
</file>